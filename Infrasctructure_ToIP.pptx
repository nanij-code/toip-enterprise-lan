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8" r:id="rId4"/>
    <p:sldId id="259" r:id="rId5"/>
    <p:sldId id="260" r:id="rId6"/>
    <p:sldId id="261" r:id="rId7"/>
    <p:sldId id="262" r:id="rId8"/>
    <p:sldId id="263" r:id="rId9"/>
    <p:sldId id="264" r:id="rId10"/>
    <p:sldId id="266" r:id="rId11"/>
    <p:sldId id="267" r:id="rId12"/>
    <p:sldId id="268" r:id="rId13"/>
    <p:sldId id="269" r:id="rId14"/>
    <p:sldId id="280" r:id="rId15"/>
    <p:sldId id="281" r:id="rId16"/>
    <p:sldId id="270" r:id="rId17"/>
    <p:sldId id="271" r:id="rId18"/>
    <p:sldId id="272" r:id="rId19"/>
    <p:sldId id="273" r:id="rId20"/>
    <p:sldId id="274" r:id="rId21"/>
    <p:sldId id="275" r:id="rId22"/>
    <p:sldId id="279"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nchiivan65@gmail.com" initials="n" lastIdx="1" clrIdx="0">
    <p:extLst>
      <p:ext uri="{19B8F6BF-5375-455C-9EA6-DF929625EA0E}">
        <p15:presenceInfo xmlns:p15="http://schemas.microsoft.com/office/powerpoint/2012/main" userId="49407bc16994ee0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15" autoAdjust="0"/>
    <p:restoredTop sz="94249" autoAdjust="0"/>
  </p:normalViewPr>
  <p:slideViewPr>
    <p:cSldViewPr snapToGrid="0" showGuides="1">
      <p:cViewPr varScale="1">
        <p:scale>
          <a:sx n="68" d="100"/>
          <a:sy n="68" d="100"/>
        </p:scale>
        <p:origin x="11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9T13:29:01.170" idx="1">
    <p:pos x="10" y="10"/>
    <p:text/>
    <p:extLst>
      <p:ext uri="{C676402C-5697-4E1C-873F-D02D1690AC5C}">
        <p15:threadingInfo xmlns:p15="http://schemas.microsoft.com/office/powerpoint/2012/main" timeZoneBias="-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a:p>
        </p:txBody>
      </p:sp>
      <p:sp>
        <p:nvSpPr>
          <p:cNvPr id="4" name="Espace réservé de la date 3"/>
          <p:cNvSpPr>
            <a:spLocks noGrp="1"/>
          </p:cNvSpPr>
          <p:nvPr>
            <p:ph type="dt" sz="half" idx="10"/>
          </p:nvPr>
        </p:nvSpPr>
        <p:spPr/>
        <p:txBody>
          <a:body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3990334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246507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4145443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p>
            <a:fld id="{B545A6C0-5815-4C65-B860-B744AFAC2BA3}" type="datetimeFigureOut">
              <a:rPr lang="en-US" smtClean="0"/>
              <a:t>4/29/2025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2978757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p:cNvSpPr>
            <a:spLocks noGrp="1"/>
          </p:cNvSpPr>
          <p:nvPr>
            <p:ph type="dt" sz="half" idx="10"/>
          </p:nvPr>
        </p:nvSpPr>
        <p:spPr/>
        <p:txBody>
          <a:bodyPr/>
          <a:lstStyle/>
          <a:p>
            <a:fld id="{B545A6C0-5815-4C65-B860-B744AFAC2BA3}" type="datetimeFigureOut">
              <a:rPr lang="en-US" smtClean="0"/>
              <a:t>4/29/2025</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81170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2"/>
          <p:cNvSpPr>
            <a:spLocks noGrp="1"/>
          </p:cNvSpPr>
          <p:nvPr>
            <p:ph type="dt" sz="half" idx="10"/>
          </p:nvPr>
        </p:nvSpPr>
        <p:spPr/>
        <p:txBody>
          <a:bodyPr/>
          <a:lstStyle/>
          <a:p>
            <a:fld id="{B545A6C0-5815-4C65-B860-B744AFAC2BA3}" type="datetimeFigureOut">
              <a:rPr lang="en-US" smtClean="0"/>
              <a:t>4/29/2025</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3882981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545A6C0-5815-4C65-B860-B744AFAC2BA3}" type="datetimeFigureOut">
              <a:rPr lang="en-US" smtClean="0"/>
              <a:t>4/29/2025</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307359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B545A6C0-5815-4C65-B860-B744AFAC2BA3}" type="datetimeFigureOut">
              <a:rPr lang="en-US" smtClean="0"/>
              <a:t>4/29/2025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50880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B545A6C0-5815-4C65-B860-B744AFAC2BA3}" type="datetimeFigureOut">
              <a:rPr lang="en-US" smtClean="0"/>
              <a:t>4/29/2025</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3123746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216439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10"/>
          </p:nvPr>
        </p:nvSpPr>
        <p:spPr/>
        <p:txBody>
          <a:body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1F2AAF13-6D3C-4BAC-A169-4185F7BC4F83}" type="slidenum">
              <a:rPr lang="en-US" smtClean="0"/>
              <a:t>‹#›</a:t>
            </a:fld>
            <a:endParaRPr lang="en-US"/>
          </a:p>
        </p:txBody>
      </p:sp>
    </p:spTree>
    <p:extLst>
      <p:ext uri="{BB962C8B-B14F-4D97-AF65-F5344CB8AC3E}">
        <p14:creationId xmlns:p14="http://schemas.microsoft.com/office/powerpoint/2010/main" val="954100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5000"/>
            <a:lum/>
          </a:blip>
          <a:srcRect/>
          <a:stretch>
            <a:fillRect t="-17000" b="-1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45A6C0-5815-4C65-B860-B744AFAC2BA3}" type="datetimeFigureOut">
              <a:rPr lang="en-US" smtClean="0"/>
              <a:t>4/29/2025</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2AAF13-6D3C-4BAC-A169-4185F7BC4F83}" type="slidenum">
              <a:rPr lang="en-US" smtClean="0"/>
              <a:t>‹#›</a:t>
            </a:fld>
            <a:endParaRPr lang="en-US"/>
          </a:p>
        </p:txBody>
      </p:sp>
    </p:spTree>
    <p:extLst>
      <p:ext uri="{BB962C8B-B14F-4D97-AF65-F5344CB8AC3E}">
        <p14:creationId xmlns:p14="http://schemas.microsoft.com/office/powerpoint/2010/main" val="1355761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van-junior-nanchi-ndassoho-8920212a9" TargetMode="External"/><Relationship Id="rId2" Type="http://schemas.openxmlformats.org/officeDocument/2006/relationships/hyperlink" Target="mailto:nanchiivan65@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23.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8.xml"/><Relationship Id="rId5" Type="http://schemas.openxmlformats.org/officeDocument/2006/relationships/slide" Target="slide6.xml"/><Relationship Id="rId10" Type="http://schemas.openxmlformats.org/officeDocument/2006/relationships/slide" Target="slide16.xml"/><Relationship Id="rId4" Type="http://schemas.openxmlformats.org/officeDocument/2006/relationships/slide" Target="slide5.xml"/><Relationship Id="rId9" Type="http://schemas.openxmlformats.org/officeDocument/2006/relationships/slide" Target="slide11.xml"/><Relationship Id="rId14" Type="http://schemas.openxmlformats.org/officeDocument/2006/relationships/slide" Target="slide2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7.xml"/><Relationship Id="rId4" Type="http://schemas.openxmlformats.org/officeDocument/2006/relationships/image" Target="../media/image40.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3399968" y="2467053"/>
            <a:ext cx="4745225" cy="961947"/>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t>PRESENTE PAR NANCHI NDASSOHO Ivan Junior</a:t>
            </a:r>
          </a:p>
        </p:txBody>
      </p:sp>
      <p:sp>
        <p:nvSpPr>
          <p:cNvPr id="9" name="Parchemin horizontal 8"/>
          <p:cNvSpPr/>
          <p:nvPr/>
        </p:nvSpPr>
        <p:spPr>
          <a:xfrm>
            <a:off x="351692" y="84909"/>
            <a:ext cx="11507373" cy="2208126"/>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a:p>
            <a:pPr algn="ctr"/>
            <a:r>
              <a:rPr lang="en-US" sz="2000" dirty="0"/>
              <a:t> </a:t>
            </a:r>
            <a:r>
              <a:rPr lang="en-US" sz="2800" b="1" dirty="0"/>
              <a:t>IMPLEMENTATIOND’UNE INFRASTRUCTURE DE ToIP</a:t>
            </a:r>
            <a:r>
              <a:rPr lang="en-US" sz="2800" dirty="0"/>
              <a:t>	</a:t>
            </a:r>
          </a:p>
        </p:txBody>
      </p:sp>
      <p:sp>
        <p:nvSpPr>
          <p:cNvPr id="10" name="Rectangle 9"/>
          <p:cNvSpPr/>
          <p:nvPr/>
        </p:nvSpPr>
        <p:spPr>
          <a:xfrm>
            <a:off x="3048000" y="3136613"/>
            <a:ext cx="6096000" cy="523220"/>
          </a:xfrm>
          <a:prstGeom prst="rect">
            <a:avLst/>
          </a:prstGeom>
        </p:spPr>
        <p:txBody>
          <a:bodyPr>
            <a:spAutoFit/>
          </a:bodyPr>
          <a:lstStyle/>
          <a:p>
            <a:endParaRPr lang="en-US" sz="1400" b="0" i="0" u="none" strike="noStrike" baseline="0" dirty="0">
              <a:solidFill>
                <a:srgbClr val="000000"/>
              </a:solidFill>
              <a:latin typeface="Times New Roman" panose="02020603050405020304" pitchFamily="18" charset="0"/>
            </a:endParaRPr>
          </a:p>
          <a:p>
            <a:r>
              <a:rPr lang="en-US" sz="1400" b="0" i="0" u="none" strike="noStrike" baseline="0" dirty="0">
                <a:solidFill>
                  <a:srgbClr val="000000"/>
                </a:solidFill>
                <a:latin typeface="Times New Roman" panose="02020603050405020304" pitchFamily="18" charset="0"/>
              </a:rPr>
              <a:t> </a:t>
            </a:r>
            <a:endParaRPr lang="en-US" dirty="0"/>
          </a:p>
        </p:txBody>
      </p:sp>
      <p:sp>
        <p:nvSpPr>
          <p:cNvPr id="16" name="Ruban vers le bas 15"/>
          <p:cNvSpPr/>
          <p:nvPr/>
        </p:nvSpPr>
        <p:spPr>
          <a:xfrm>
            <a:off x="2213823" y="5997372"/>
            <a:ext cx="7398594" cy="747102"/>
          </a:xfrm>
          <a:prstGeom prst="ribb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ANNEE ACADEMIQUE : 2024/2025 </a:t>
            </a:r>
            <a:endParaRPr lang="en-US" dirty="0"/>
          </a:p>
        </p:txBody>
      </p:sp>
      <p:sp>
        <p:nvSpPr>
          <p:cNvPr id="12" name="Rectangle 11">
            <a:extLst>
              <a:ext uri="{FF2B5EF4-FFF2-40B4-BE49-F238E27FC236}">
                <a16:creationId xmlns:a16="http://schemas.microsoft.com/office/drawing/2014/main" id="{714C9F6F-68A5-4AD4-B689-597D031A0C75}"/>
              </a:ext>
            </a:extLst>
          </p:cNvPr>
          <p:cNvSpPr/>
          <p:nvPr/>
        </p:nvSpPr>
        <p:spPr>
          <a:xfrm>
            <a:off x="909433" y="3883901"/>
            <a:ext cx="9931791" cy="1362130"/>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r>
              <a:rPr lang="en-US" sz="2400" dirty="0"/>
              <a:t>Email: </a:t>
            </a:r>
            <a:r>
              <a:rPr lang="en-US" sz="2400" dirty="0">
                <a:hlinkClick r:id="rId2"/>
              </a:rPr>
              <a:t>nanchiivan65@gmail.com</a:t>
            </a:r>
            <a:endParaRPr lang="en-US" sz="2400" dirty="0"/>
          </a:p>
          <a:p>
            <a:r>
              <a:rPr lang="en-US" sz="2400" dirty="0"/>
              <a:t>T</a:t>
            </a:r>
            <a:r>
              <a:rPr lang="fr-CM" sz="2400" dirty="0"/>
              <a:t>él : </a:t>
            </a:r>
            <a:r>
              <a:rPr lang="fr-CM" sz="2400" u="sng" dirty="0">
                <a:solidFill>
                  <a:schemeClr val="accent1"/>
                </a:solidFill>
              </a:rPr>
              <a:t>+237672928854</a:t>
            </a:r>
          </a:p>
          <a:p>
            <a:r>
              <a:rPr lang="fr-CM" sz="2400" dirty="0"/>
              <a:t>LinkedIn: </a:t>
            </a:r>
            <a:r>
              <a:rPr lang="fr-CM" sz="2400" dirty="0">
                <a:hlinkClick r:id="rId3"/>
              </a:rPr>
              <a:t>https</a:t>
            </a:r>
            <a:r>
              <a:rPr lang="en-US" sz="2400" dirty="0">
                <a:hlinkClick r:id="rId3"/>
              </a:rPr>
              <a:t>://www.linkedin.com/ivan-junior-nanchi-ndassoho-8920212a9</a:t>
            </a:r>
            <a:endParaRPr lang="en-US" sz="2400" dirty="0"/>
          </a:p>
          <a:p>
            <a:endParaRPr lang="en-US" sz="2400" dirty="0"/>
          </a:p>
        </p:txBody>
      </p:sp>
    </p:spTree>
    <p:extLst>
      <p:ext uri="{BB962C8B-B14F-4D97-AF65-F5344CB8AC3E}">
        <p14:creationId xmlns:p14="http://schemas.microsoft.com/office/powerpoint/2010/main" val="3193937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615690" y="-114935"/>
            <a:ext cx="3710940" cy="937895"/>
          </a:xfrm>
        </p:spPr>
        <p:txBody>
          <a:bodyPr/>
          <a:lstStyle/>
          <a:p>
            <a:r>
              <a:rPr lang="en-US" dirty="0"/>
              <a:t>Plant du travail </a:t>
            </a:r>
          </a:p>
        </p:txBody>
      </p:sp>
      <p:sp>
        <p:nvSpPr>
          <p:cNvPr id="3" name="Espace réservé du contenu 2"/>
          <p:cNvSpPr>
            <a:spLocks noGrp="1"/>
          </p:cNvSpPr>
          <p:nvPr>
            <p:ph idx="1"/>
          </p:nvPr>
        </p:nvSpPr>
        <p:spPr>
          <a:xfrm>
            <a:off x="609600" y="822960"/>
            <a:ext cx="10515600" cy="6035040"/>
          </a:xfrm>
        </p:spPr>
        <p:txBody>
          <a:bodyPr>
            <a:normAutofit/>
          </a:bodyPr>
          <a:lstStyle/>
          <a:p>
            <a:pPr marL="571500" indent="-571500">
              <a:buFont typeface="+mj-lt"/>
              <a:buAutoNum type="romanUcPeriod"/>
            </a:pPr>
            <a:r>
              <a:rPr lang="en-US" sz="2400" dirty="0">
                <a:hlinkClick r:id="rId2" action="ppaction://hlinksldjump"/>
              </a:rPr>
              <a:t>Introduction a l’</a:t>
            </a:r>
            <a:r>
              <a:rPr lang="fr-FR" sz="2400" dirty="0">
                <a:hlinkClick r:id="rId2" action="ppaction://hlinksldjump"/>
              </a:rPr>
              <a:t>infrastructure de ToIP avec AST</a:t>
            </a:r>
            <a:endParaRPr lang="fr-FR" sz="2400" dirty="0"/>
          </a:p>
          <a:p>
            <a:pPr marL="571500" indent="-571500">
              <a:buFont typeface="+mj-lt"/>
              <a:buAutoNum type="romanUcPeriod"/>
            </a:pPr>
            <a:r>
              <a:rPr lang="fr-FR" sz="2400" dirty="0">
                <a:hlinkClick r:id="rId3" action="ppaction://hlinksldjump"/>
              </a:rPr>
              <a:t>CREATION D’EXTENSION</a:t>
            </a:r>
            <a:endParaRPr lang="fr-FR" sz="2400" dirty="0"/>
          </a:p>
          <a:p>
            <a:pPr marL="571500" indent="-571500">
              <a:buFont typeface="+mj-lt"/>
              <a:buAutoNum type="romanUcPeriod"/>
            </a:pPr>
            <a:r>
              <a:rPr lang="fr-FR" sz="2400" dirty="0">
                <a:hlinkClick r:id="rId4" action="ppaction://hlinksldjump"/>
              </a:rPr>
              <a:t>Messagerie Vocale</a:t>
            </a:r>
            <a:endParaRPr lang="fr-FR" sz="2400" dirty="0"/>
          </a:p>
          <a:p>
            <a:pPr marL="571500" indent="-571500">
              <a:buFont typeface="+mj-lt"/>
              <a:buAutoNum type="romanUcPeriod"/>
            </a:pPr>
            <a:r>
              <a:rPr lang="fr-FR" sz="2400" dirty="0">
                <a:hlinkClick r:id="rId5" action="ppaction://hlinksldjump"/>
              </a:rPr>
              <a:t>Groupement d'Appel (Ring Group)</a:t>
            </a:r>
            <a:endParaRPr lang="fr-FR" sz="2400" dirty="0"/>
          </a:p>
          <a:p>
            <a:pPr marL="571500" indent="-571500">
              <a:buFont typeface="+mj-lt"/>
              <a:buAutoNum type="romanUcPeriod"/>
            </a:pPr>
            <a:r>
              <a:rPr lang="fr-FR" sz="2400" dirty="0">
                <a:hlinkClick r:id="rId6" action="ppaction://hlinksldjump"/>
              </a:rPr>
              <a:t>Renvoi d'Appel</a:t>
            </a:r>
            <a:endParaRPr lang="fr-FR" sz="2400" dirty="0"/>
          </a:p>
          <a:p>
            <a:pPr marL="571500" indent="-571500">
              <a:buFont typeface="+mj-lt"/>
              <a:buAutoNum type="romanUcPeriod"/>
            </a:pPr>
            <a:r>
              <a:rPr lang="fr-FR" sz="2400" dirty="0">
                <a:hlinkClick r:id="rId7" action="ppaction://hlinksldjump"/>
              </a:rPr>
              <a:t>Transfert d'Appel</a:t>
            </a:r>
            <a:endParaRPr lang="fr-FR" sz="2400" dirty="0"/>
          </a:p>
          <a:p>
            <a:pPr marL="571500" indent="-571500">
              <a:buFont typeface="+mj-lt"/>
              <a:buAutoNum type="romanUcPeriod"/>
            </a:pPr>
            <a:r>
              <a:rPr lang="fr-FR" sz="2400" dirty="0">
                <a:hlinkClick r:id="rId8" action="ppaction://hlinksldjump"/>
              </a:rPr>
              <a:t>Parcage d'Appel</a:t>
            </a:r>
            <a:endParaRPr lang="fr-FR" sz="2400" dirty="0"/>
          </a:p>
          <a:p>
            <a:pPr marL="571500" indent="-571500">
              <a:buFont typeface="+mj-lt"/>
              <a:buAutoNum type="romanUcPeriod"/>
            </a:pPr>
            <a:r>
              <a:rPr lang="fr-FR" sz="2400" dirty="0">
                <a:hlinkClick r:id="rId9" action="ppaction://hlinksldjump"/>
              </a:rPr>
              <a:t>Serveur Vocal Interactif (IVR)</a:t>
            </a:r>
            <a:endParaRPr lang="fr-FR" sz="2400" dirty="0"/>
          </a:p>
          <a:p>
            <a:pPr marL="571500" indent="-571500">
              <a:buFont typeface="+mj-lt"/>
              <a:buAutoNum type="romanUcPeriod"/>
            </a:pPr>
            <a:r>
              <a:rPr lang="fr-FR" sz="2400" dirty="0">
                <a:hlinkClick r:id="rId10" action="ppaction://hlinksldjump"/>
              </a:rPr>
              <a:t>Gestion des Horaires</a:t>
            </a:r>
            <a:r>
              <a:rPr lang="fr-FR" sz="2400" dirty="0"/>
              <a:t>							</a:t>
            </a:r>
          </a:p>
          <a:p>
            <a:pPr marL="571500" indent="-571500">
              <a:buFont typeface="+mj-lt"/>
              <a:buAutoNum type="romanUcPeriod"/>
            </a:pPr>
            <a:r>
              <a:rPr lang="fr-FR" sz="2400" dirty="0">
                <a:hlinkClick r:id="rId11" action="ppaction://hlinksldjump"/>
              </a:rPr>
              <a:t>INTERCONNEXION VERS UN AUTRE RESEAU</a:t>
            </a:r>
            <a:endParaRPr lang="fr-FR" sz="2400" dirty="0"/>
          </a:p>
          <a:p>
            <a:pPr marL="571500" indent="-571500">
              <a:buFont typeface="+mj-lt"/>
              <a:buAutoNum type="romanUcPeriod"/>
            </a:pPr>
            <a:r>
              <a:rPr lang="fr-FR" sz="2400" dirty="0">
                <a:hlinkClick r:id="rId12" action="ppaction://hlinksldjump"/>
              </a:rPr>
              <a:t>DISCRIMINATION</a:t>
            </a:r>
            <a:r>
              <a:rPr lang="fr-FR" sz="2400" dirty="0"/>
              <a:t> </a:t>
            </a:r>
          </a:p>
          <a:p>
            <a:pPr marL="571500" indent="-571500">
              <a:buFont typeface="+mj-lt"/>
              <a:buAutoNum type="romanUcPeriod"/>
            </a:pPr>
            <a:r>
              <a:rPr lang="fr-FR" sz="2400" dirty="0">
                <a:hlinkClick r:id="rId13" action="ppaction://hlinksldjump"/>
              </a:rPr>
              <a:t>GESTION DE L’IPBX</a:t>
            </a:r>
            <a:endParaRPr lang="fr-FR" sz="2400" dirty="0"/>
          </a:p>
          <a:p>
            <a:pPr marL="571500" indent="-571500">
              <a:buFont typeface="+mj-lt"/>
              <a:buAutoNum type="romanUcPeriod"/>
            </a:pPr>
            <a:r>
              <a:rPr lang="fr-FR" sz="2400" dirty="0">
                <a:hlinkClick r:id="rId14" action="ppaction://hlinksldjump"/>
              </a:rPr>
              <a:t> CONCLUSION </a:t>
            </a:r>
            <a:endParaRPr lang="fr-FR" sz="2400" dirty="0"/>
          </a:p>
          <a:p>
            <a:pPr marL="0" indent="0">
              <a:buNone/>
            </a:pPr>
            <a:endParaRPr lang="fr-FR" sz="2400" dirty="0"/>
          </a:p>
          <a:p>
            <a:pPr marL="571500" indent="-571500">
              <a:buFont typeface="+mj-lt"/>
              <a:buAutoNum type="romanUcPeriod"/>
            </a:pPr>
            <a:endParaRPr lang="fr-FR" sz="2400" dirty="0"/>
          </a:p>
          <a:p>
            <a:pPr marL="571500" indent="-571500">
              <a:buFont typeface="+mj-lt"/>
              <a:buAutoNum type="romanUcPeriod"/>
            </a:pPr>
            <a:endParaRPr lang="fr-FR" dirty="0"/>
          </a:p>
          <a:p>
            <a:pPr marL="571500" indent="-571500">
              <a:buFont typeface="+mj-lt"/>
              <a:buAutoNum type="romanUcPeriod"/>
            </a:pPr>
            <a:endParaRPr lang="fr-FR" dirty="0"/>
          </a:p>
        </p:txBody>
      </p:sp>
    </p:spTree>
    <p:extLst>
      <p:ext uri="{BB962C8B-B14F-4D97-AF65-F5344CB8AC3E}">
        <p14:creationId xmlns:p14="http://schemas.microsoft.com/office/powerpoint/2010/main" val="4037177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805377" y="631770"/>
            <a:ext cx="5358809" cy="708779"/>
          </a:xfrm>
          <a:prstGeom prst="rect">
            <a:avLst/>
          </a:prstGeom>
          <a:noFill/>
          <a:ln/>
        </p:spPr>
        <p:txBody>
          <a:bodyPr wrap="none" lIns="0" tIns="0" rIns="0" bIns="0" rtlCol="0" anchor="t"/>
          <a:lstStyle/>
          <a:p>
            <a:pPr marL="0" indent="0" algn="l">
              <a:lnSpc>
                <a:spcPts val="5550"/>
              </a:lnSpc>
              <a:buNone/>
            </a:pPr>
            <a:r>
              <a:rPr lang="en-US" sz="2800" dirty="0">
                <a:solidFill>
                  <a:srgbClr val="152D47"/>
                </a:solidFill>
                <a:latin typeface="Crimson Pro Semi Bold" pitchFamily="34" charset="0"/>
                <a:ea typeface="Crimson Pro Semi Bold" pitchFamily="34" charset="-122"/>
                <a:cs typeface="Crimson Pro Semi Bold" pitchFamily="34" charset="-120"/>
              </a:rPr>
              <a:t>Infrastructure de ToIP avec AST</a:t>
            </a:r>
            <a:endParaRPr lang="en-US" sz="2800" dirty="0"/>
          </a:p>
        </p:txBody>
      </p:sp>
      <p:sp>
        <p:nvSpPr>
          <p:cNvPr id="5" name="Text 1"/>
          <p:cNvSpPr/>
          <p:nvPr/>
        </p:nvSpPr>
        <p:spPr>
          <a:xfrm>
            <a:off x="5362298" y="1670078"/>
            <a:ext cx="6400801" cy="1814513"/>
          </a:xfrm>
          <a:prstGeom prst="rect">
            <a:avLst/>
          </a:prstGeom>
          <a:noFill/>
          <a:ln/>
        </p:spPr>
        <p:txBody>
          <a:bodyPr wrap="square" lIns="0" tIns="0" rIns="0" bIns="0" rtlCol="0" anchor="t"/>
          <a:lstStyle/>
          <a:p>
            <a:pPr marL="0" indent="0" algn="l">
              <a:lnSpc>
                <a:spcPts val="2850"/>
              </a:lnSpc>
              <a:buNone/>
            </a:pPr>
            <a:r>
              <a:rPr lang="en-US" sz="1600" b="1" dirty="0">
                <a:solidFill>
                  <a:srgbClr val="4C4C4D"/>
                </a:solidFill>
                <a:latin typeface="Heebo" pitchFamily="34" charset="0"/>
                <a:ea typeface="Heebo" pitchFamily="34" charset="-122"/>
                <a:cs typeface="Heebo" pitchFamily="34" charset="-120"/>
              </a:rPr>
              <a:t>Bienvenue à cette présentation sur l'infrastructure de Téléphonie sur IP (ToIP) avec Asterisk. Nous explorerons les différentes fonctionnalités et configurations essentielles pour mettre en place un système de communication efficace et adaptable aux besoins d'une entreprise moderne</a:t>
            </a:r>
            <a:r>
              <a:rPr lang="en-US" sz="1400" b="1" dirty="0">
                <a:solidFill>
                  <a:srgbClr val="4C4C4D"/>
                </a:solidFill>
                <a:latin typeface="Heebo" pitchFamily="34" charset="0"/>
                <a:ea typeface="Heebo" pitchFamily="34" charset="-122"/>
                <a:cs typeface="Heebo" pitchFamily="34" charset="-120"/>
              </a:rPr>
              <a:t>.</a:t>
            </a:r>
            <a:endParaRPr lang="en-US" sz="1400" b="1" dirty="0"/>
          </a:p>
        </p:txBody>
      </p:sp>
      <p:sp>
        <p:nvSpPr>
          <p:cNvPr id="6" name="Text 2"/>
          <p:cNvSpPr/>
          <p:nvPr/>
        </p:nvSpPr>
        <p:spPr>
          <a:xfrm>
            <a:off x="5362297" y="3814120"/>
            <a:ext cx="6400801" cy="1938043"/>
          </a:xfrm>
          <a:prstGeom prst="rect">
            <a:avLst/>
          </a:prstGeom>
          <a:noFill/>
          <a:ln/>
        </p:spPr>
        <p:txBody>
          <a:bodyPr wrap="square" lIns="0" tIns="0" rIns="0" bIns="0" rtlCol="0" anchor="t"/>
          <a:lstStyle/>
          <a:p>
            <a:pPr marL="0" indent="0" algn="l">
              <a:lnSpc>
                <a:spcPts val="2850"/>
              </a:lnSpc>
              <a:buNone/>
            </a:pPr>
            <a:r>
              <a:rPr lang="en-US" sz="1600" b="1" dirty="0">
                <a:solidFill>
                  <a:srgbClr val="4C4C4D"/>
                </a:solidFill>
                <a:latin typeface="Heebo" pitchFamily="34" charset="0"/>
                <a:ea typeface="Heebo" pitchFamily="34" charset="-122"/>
                <a:cs typeface="Heebo" pitchFamily="34" charset="-120"/>
              </a:rPr>
              <a:t>Au cours de cette présentation, nous aborderons les services fondamentaux tels que la messagerie vocale, le groupement d'appel, le renvoi et transfert d'appel, ainsi que des fonctionnalités plus avancées comme le serveur vocal interactif (IVR) et la gestion des horaires d'appel.</a:t>
            </a:r>
            <a:endParaRPr lang="en-US" sz="1600" b="1" dirty="0"/>
          </a:p>
        </p:txBody>
      </p:sp>
      <p:pic>
        <p:nvPicPr>
          <p:cNvPr id="7" name="Image 0" descr="preencoded.png"/>
          <p:cNvPicPr>
            <a:picLocks noChangeAspect="1"/>
          </p:cNvPicPr>
          <p:nvPr/>
        </p:nvPicPr>
        <p:blipFill>
          <a:blip r:embed="rId2"/>
          <a:stretch>
            <a:fillRect/>
          </a:stretch>
        </p:blipFill>
        <p:spPr>
          <a:xfrm>
            <a:off x="0" y="0"/>
            <a:ext cx="5061098" cy="6858000"/>
          </a:xfrm>
          <a:prstGeom prst="rect">
            <a:avLst/>
          </a:prstGeom>
        </p:spPr>
      </p:pic>
    </p:spTree>
    <p:extLst>
      <p:ext uri="{BB962C8B-B14F-4D97-AF65-F5344CB8AC3E}">
        <p14:creationId xmlns:p14="http://schemas.microsoft.com/office/powerpoint/2010/main" val="3985085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6520" y="0"/>
            <a:ext cx="6535479" cy="6858000"/>
          </a:xfrm>
          <a:prstGeom prst="rect">
            <a:avLst/>
          </a:prstGeom>
        </p:spPr>
      </p:pic>
      <p:sp>
        <p:nvSpPr>
          <p:cNvPr id="5" name="Rectangle 2"/>
          <p:cNvSpPr>
            <a:spLocks noChangeArrowheads="1"/>
          </p:cNvSpPr>
          <p:nvPr/>
        </p:nvSpPr>
        <p:spPr bwMode="auto">
          <a:xfrm>
            <a:off x="99332" y="1059120"/>
            <a:ext cx="542260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7145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71450" algn="l" defTabSz="914400" rtl="0" eaLnBrk="0" fontAlgn="base" latinLnBrk="0" hangingPunct="0">
              <a:lnSpc>
                <a:spcPct val="100000"/>
              </a:lnSpc>
              <a:spcBef>
                <a:spcPct val="0"/>
              </a:spcBef>
              <a:spcAft>
                <a:spcPct val="0"/>
              </a:spcAft>
              <a:buClrTx/>
              <a:buSzTx/>
              <a:buFontTx/>
              <a:buNone/>
              <a:tabLst/>
            </a:pP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Il est possible de cr</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er une longue liste d</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extensions pr</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alablement saisie sous un tableur (MS Excel par exemple) et enregistrer au format </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csv </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Les colonnes de la table doivent repr</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senter le minimum de champs indispensables </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à</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la cr</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ation d</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une extension (Display Name, User Extension, Secret, Tech).</a:t>
            </a:r>
            <a:endParaRPr kumimoji="0" lang="en-US" altLang="en-US" sz="1600" b="1" i="0" u="none" strike="noStrike" cap="none" normalizeH="0" baseline="0" dirty="0">
              <a:ln>
                <a:noFill/>
              </a:ln>
              <a:solidFill>
                <a:schemeClr val="tx1"/>
              </a:solidFill>
              <a:effectLst/>
            </a:endParaRPr>
          </a:p>
          <a:p>
            <a:pPr marL="0" marR="0" lvl="0" indent="17145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
        <p:nvSpPr>
          <p:cNvPr id="6" name="Rectangle 3"/>
          <p:cNvSpPr>
            <a:spLocks noChangeArrowheads="1"/>
          </p:cNvSpPr>
          <p:nvPr/>
        </p:nvSpPr>
        <p:spPr bwMode="auto">
          <a:xfrm>
            <a:off x="99332" y="3405916"/>
            <a:ext cx="5223940"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71450" algn="just" defTabSz="914400" rtl="0" eaLnBrk="0" fontAlgn="base" latinLnBrk="0" hangingPunct="0">
              <a:lnSpc>
                <a:spcPct val="100000"/>
              </a:lnSpc>
              <a:spcBef>
                <a:spcPct val="0"/>
              </a:spcBef>
              <a:spcAft>
                <a:spcPct val="0"/>
              </a:spcAft>
              <a:buClrTx/>
              <a:buSzTx/>
              <a:buFontTx/>
              <a:buNone/>
              <a:tabLst/>
            </a:pPr>
            <a:br>
              <a:rPr kumimoji="0" lang="fr-FR"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Apr</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è</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 l</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avoir fait, nous avons import</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le fichier dans l</a:t>
            </a:r>
            <a:r>
              <a:rPr kumimoji="0" lang="fr-FR"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fr-FR"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IPBX sous Batch configuration.</a:t>
            </a:r>
            <a:endParaRPr kumimoji="0" lang="fr-FR" altLang="en-US" sz="1600" b="1" i="0" u="none" strike="noStrike" cap="none" normalizeH="0" baseline="0" dirty="0">
              <a:ln>
                <a:noFill/>
              </a:ln>
              <a:solidFill>
                <a:schemeClr val="tx1"/>
              </a:solidFill>
              <a:effectLst/>
              <a:latin typeface="Arial" panose="020B0604020202020204" pitchFamily="34" charset="0"/>
            </a:endParaRPr>
          </a:p>
        </p:txBody>
      </p:sp>
      <p:sp>
        <p:nvSpPr>
          <p:cNvPr id="9" name="Rectangle 3"/>
          <p:cNvSpPr>
            <a:spLocks noChangeArrowheads="1"/>
          </p:cNvSpPr>
          <p:nvPr/>
        </p:nvSpPr>
        <p:spPr bwMode="auto">
          <a:xfrm>
            <a:off x="-1484770" y="0"/>
            <a:ext cx="78344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85950" lvl="3" indent="-514350" algn="just" eaLnBrk="0" fontAlgn="base" hangingPunct="0">
              <a:spcBef>
                <a:spcPct val="0"/>
              </a:spcBef>
              <a:spcAft>
                <a:spcPct val="0"/>
              </a:spcAft>
              <a:buFont typeface="+mj-lt"/>
              <a:buAutoNum type="romanUcPeriod"/>
            </a:pPr>
            <a:r>
              <a:rPr lang="en-US" sz="4000" b="1" dirty="0"/>
              <a:t>CREATION D’EXTENSION</a:t>
            </a:r>
          </a:p>
        </p:txBody>
      </p:sp>
    </p:spTree>
    <p:extLst>
      <p:ext uri="{BB962C8B-B14F-4D97-AF65-F5344CB8AC3E}">
        <p14:creationId xmlns:p14="http://schemas.microsoft.com/office/powerpoint/2010/main" val="309076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5707" y="735431"/>
            <a:ext cx="5962215" cy="708779"/>
          </a:xfrm>
          <a:prstGeom prst="rect">
            <a:avLst/>
          </a:prstGeom>
          <a:noFill/>
          <a:ln/>
        </p:spPr>
        <p:txBody>
          <a:bodyPr wrap="none" lIns="0" tIns="0" rIns="0" bIns="0" rtlCol="0" anchor="t"/>
          <a:lstStyle/>
          <a:p>
            <a:pPr marL="1028700" indent="-1028700" algn="l">
              <a:lnSpc>
                <a:spcPts val="5550"/>
              </a:lnSpc>
              <a:buFont typeface="+mj-lt"/>
              <a:buAutoNum type="romanUcPeriod" startAt="2"/>
            </a:pPr>
            <a:r>
              <a:rPr lang="en-US" sz="4450" dirty="0">
                <a:solidFill>
                  <a:srgbClr val="152D47"/>
                </a:solidFill>
                <a:latin typeface="Crimson Pro Semi Bold" pitchFamily="34" charset="0"/>
                <a:ea typeface="Crimson Pro Semi Bold" pitchFamily="34" charset="-122"/>
                <a:cs typeface="Crimson Pro Semi Bold" pitchFamily="34" charset="-120"/>
              </a:rPr>
              <a:t>Messagerie Vocale</a:t>
            </a:r>
            <a:endParaRPr lang="en-US" sz="4450" dirty="0"/>
          </a:p>
        </p:txBody>
      </p:sp>
      <p:pic>
        <p:nvPicPr>
          <p:cNvPr id="5" name="Image 1" descr="preencoded.png"/>
          <p:cNvPicPr>
            <a:picLocks noChangeAspect="1"/>
          </p:cNvPicPr>
          <p:nvPr/>
        </p:nvPicPr>
        <p:blipFill>
          <a:blip r:embed="rId2">
            <a:duotone>
              <a:schemeClr val="accent2">
                <a:shade val="45000"/>
                <a:satMod val="135000"/>
              </a:schemeClr>
              <a:prstClr val="white"/>
            </a:duotone>
          </a:blip>
          <a:stretch>
            <a:fillRect/>
          </a:stretch>
        </p:blipFill>
        <p:spPr>
          <a:xfrm>
            <a:off x="5235707" y="2162273"/>
            <a:ext cx="340162" cy="567480"/>
          </a:xfrm>
          <a:prstGeom prst="rect">
            <a:avLst/>
          </a:prstGeom>
        </p:spPr>
      </p:pic>
      <p:sp>
        <p:nvSpPr>
          <p:cNvPr id="6" name="Text 2"/>
          <p:cNvSpPr/>
          <p:nvPr/>
        </p:nvSpPr>
        <p:spPr>
          <a:xfrm>
            <a:off x="5954988" y="22688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Définition</a:t>
            </a:r>
            <a:endParaRPr lang="en-US" sz="2200" dirty="0"/>
          </a:p>
        </p:txBody>
      </p:sp>
      <p:sp>
        <p:nvSpPr>
          <p:cNvPr id="7" name="Text 5"/>
          <p:cNvSpPr/>
          <p:nvPr/>
        </p:nvSpPr>
        <p:spPr>
          <a:xfrm>
            <a:off x="9169342" y="22150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Configuration</a:t>
            </a:r>
            <a:endParaRPr lang="en-US" sz="2200" dirty="0"/>
          </a:p>
        </p:txBody>
      </p:sp>
      <p:sp>
        <p:nvSpPr>
          <p:cNvPr id="8" name="Text 6"/>
          <p:cNvSpPr/>
          <p:nvPr/>
        </p:nvSpPr>
        <p:spPr>
          <a:xfrm>
            <a:off x="8790223" y="2892575"/>
            <a:ext cx="2927747" cy="1814513"/>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Activation du service sur l'extension et ajout d'un mot de passe numérique (PIN). Dans notre cas, configurée sur l'extension 100.</a:t>
            </a:r>
            <a:endParaRPr lang="en-US" sz="1750" b="1" dirty="0"/>
          </a:p>
        </p:txBody>
      </p:sp>
      <p:sp>
        <p:nvSpPr>
          <p:cNvPr id="9" name="Text 3"/>
          <p:cNvSpPr/>
          <p:nvPr/>
        </p:nvSpPr>
        <p:spPr>
          <a:xfrm>
            <a:off x="4771647" y="2965617"/>
            <a:ext cx="2927747" cy="1814513"/>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Service permettant de laisser un message vocal à un correspondant lorsqu'on est </a:t>
            </a:r>
            <a:r>
              <a:rPr lang="en-US" sz="1750" b="1" dirty="0" err="1">
                <a:solidFill>
                  <a:srgbClr val="4C4C4D"/>
                </a:solidFill>
                <a:latin typeface="Heebo" pitchFamily="34" charset="0"/>
                <a:ea typeface="Heebo" pitchFamily="34" charset="-122"/>
                <a:cs typeface="Heebo" pitchFamily="34" charset="-120"/>
              </a:rPr>
              <a:t>dans</a:t>
            </a:r>
            <a:r>
              <a:rPr lang="en-US" sz="1750" b="1" dirty="0">
                <a:solidFill>
                  <a:srgbClr val="4C4C4D"/>
                </a:solidFill>
                <a:latin typeface="Heebo" pitchFamily="34" charset="0"/>
                <a:ea typeface="Heebo" pitchFamily="34" charset="-122"/>
                <a:cs typeface="Heebo" pitchFamily="34" charset="-120"/>
              </a:rPr>
              <a:t> l'impossibilité de le joindre sur son poste.</a:t>
            </a:r>
            <a:endParaRPr lang="en-US" sz="1750" b="1" dirty="0"/>
          </a:p>
        </p:txBody>
      </p:sp>
      <p:sp>
        <p:nvSpPr>
          <p:cNvPr id="10" name="Text 9"/>
          <p:cNvSpPr/>
          <p:nvPr/>
        </p:nvSpPr>
        <p:spPr>
          <a:xfrm>
            <a:off x="4690965" y="5779540"/>
            <a:ext cx="6241494"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Accès direct depuis son poste en composant le code *97, ou possibilité d'accéder depuis une autre extension</a:t>
            </a:r>
            <a:r>
              <a:rPr lang="en-US" sz="1750" dirty="0">
                <a:solidFill>
                  <a:srgbClr val="4C4C4D"/>
                </a:solidFill>
                <a:latin typeface="Heebo" pitchFamily="34" charset="0"/>
                <a:ea typeface="Heebo" pitchFamily="34" charset="-122"/>
                <a:cs typeface="Heebo" pitchFamily="34" charset="-120"/>
              </a:rPr>
              <a:t>.</a:t>
            </a:r>
            <a:endParaRPr lang="en-US" sz="1750" dirty="0"/>
          </a:p>
        </p:txBody>
      </p:sp>
      <p:pic>
        <p:nvPicPr>
          <p:cNvPr id="11" name="Image 2" descr="preencoded.png"/>
          <p:cNvPicPr>
            <a:picLocks noChangeAspect="1"/>
          </p:cNvPicPr>
          <p:nvPr/>
        </p:nvPicPr>
        <p:blipFill>
          <a:blip r:embed="rId3">
            <a:duotone>
              <a:schemeClr val="accent2">
                <a:shade val="45000"/>
                <a:satMod val="135000"/>
              </a:schemeClr>
              <a:prstClr val="white"/>
            </a:duotone>
          </a:blip>
          <a:stretch>
            <a:fillRect/>
          </a:stretch>
        </p:blipFill>
        <p:spPr>
          <a:xfrm>
            <a:off x="8620142" y="2232390"/>
            <a:ext cx="340162" cy="448480"/>
          </a:xfrm>
          <a:prstGeom prst="rect">
            <a:avLst/>
          </a:prstGeom>
        </p:spPr>
      </p:pic>
      <p:sp>
        <p:nvSpPr>
          <p:cNvPr id="12" name="Text 8"/>
          <p:cNvSpPr/>
          <p:nvPr/>
        </p:nvSpPr>
        <p:spPr>
          <a:xfrm>
            <a:off x="5235707" y="523059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Accès</a:t>
            </a:r>
            <a:endParaRPr lang="en-US" sz="2200" dirty="0"/>
          </a:p>
        </p:txBody>
      </p:sp>
      <p:pic>
        <p:nvPicPr>
          <p:cNvPr id="13" name="Image 3" descr="preencoded.png"/>
          <p:cNvPicPr>
            <a:picLocks noChangeAspect="1"/>
          </p:cNvPicPr>
          <p:nvPr/>
        </p:nvPicPr>
        <p:blipFill>
          <a:blip r:embed="rId4">
            <a:duotone>
              <a:schemeClr val="accent2">
                <a:shade val="45000"/>
                <a:satMod val="135000"/>
              </a:schemeClr>
              <a:prstClr val="white"/>
            </a:duotone>
          </a:blip>
          <a:stretch>
            <a:fillRect/>
          </a:stretch>
        </p:blipFill>
        <p:spPr>
          <a:xfrm>
            <a:off x="4601566" y="5159630"/>
            <a:ext cx="340162" cy="425291"/>
          </a:xfrm>
          <a:prstGeom prst="rect">
            <a:avLst/>
          </a:prstGeom>
        </p:spPr>
      </p:pic>
      <p:pic>
        <p:nvPicPr>
          <p:cNvPr id="14" name="Image 0" descr="preencoded.png"/>
          <p:cNvPicPr>
            <a:picLocks noChangeAspect="1"/>
          </p:cNvPicPr>
          <p:nvPr/>
        </p:nvPicPr>
        <p:blipFill>
          <a:blip r:embed="rId5"/>
          <a:stretch>
            <a:fillRect/>
          </a:stretch>
        </p:blipFill>
        <p:spPr>
          <a:xfrm>
            <a:off x="0" y="0"/>
            <a:ext cx="4392528" cy="6858000"/>
          </a:xfrm>
          <a:prstGeom prst="rect">
            <a:avLst/>
          </a:prstGeom>
        </p:spPr>
      </p:pic>
    </p:spTree>
    <p:extLst>
      <p:ext uri="{BB962C8B-B14F-4D97-AF65-F5344CB8AC3E}">
        <p14:creationId xmlns:p14="http://schemas.microsoft.com/office/powerpoint/2010/main" val="2631318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0" y="144141"/>
            <a:ext cx="9049210" cy="667464"/>
          </a:xfrm>
          <a:prstGeom prst="rect">
            <a:avLst/>
          </a:prstGeom>
          <a:noFill/>
          <a:ln/>
        </p:spPr>
        <p:txBody>
          <a:bodyPr wrap="none" lIns="0" tIns="0" rIns="0" bIns="0" rtlCol="0" anchor="t"/>
          <a:lstStyle/>
          <a:p>
            <a:pPr marL="857250" indent="-857250" algn="l">
              <a:lnSpc>
                <a:spcPts val="5250"/>
              </a:lnSpc>
              <a:buFont typeface="+mj-lt"/>
              <a:buAutoNum type="romanUcPeriod" startAt="3"/>
            </a:pPr>
            <a:r>
              <a:rPr lang="en-US" sz="4000" dirty="0">
                <a:solidFill>
                  <a:srgbClr val="152D47"/>
                </a:solidFill>
                <a:latin typeface="Crimson Pro Semi Bold" pitchFamily="34" charset="0"/>
                <a:ea typeface="Crimson Pro Semi Bold" pitchFamily="34" charset="-122"/>
                <a:cs typeface="Crimson Pro Semi Bold" pitchFamily="34" charset="-120"/>
              </a:rPr>
              <a:t>Groupement d'Appel (Ring Group)</a:t>
            </a:r>
            <a:endParaRPr lang="en-US" sz="4000" dirty="0"/>
          </a:p>
        </p:txBody>
      </p:sp>
      <p:sp>
        <p:nvSpPr>
          <p:cNvPr id="5" name="Text 1"/>
          <p:cNvSpPr/>
          <p:nvPr/>
        </p:nvSpPr>
        <p:spPr>
          <a:xfrm>
            <a:off x="1702034" y="1612651"/>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C4C4D"/>
                </a:solidFill>
                <a:latin typeface="Crimson Pro Semi Bold" pitchFamily="34" charset="0"/>
                <a:ea typeface="Crimson Pro Semi Bold" pitchFamily="34" charset="-122"/>
                <a:cs typeface="Crimson Pro Semi Bold" pitchFamily="34" charset="-120"/>
              </a:rPr>
              <a:t>Définition</a:t>
            </a:r>
            <a:endParaRPr lang="en-US" sz="2100" dirty="0"/>
          </a:p>
        </p:txBody>
      </p:sp>
      <p:sp>
        <p:nvSpPr>
          <p:cNvPr id="6" name="Text 2"/>
          <p:cNvSpPr/>
          <p:nvPr/>
        </p:nvSpPr>
        <p:spPr>
          <a:xfrm>
            <a:off x="1244696" y="1962414"/>
            <a:ext cx="6260902" cy="683419"/>
          </a:xfrm>
          <a:prstGeom prst="rect">
            <a:avLst/>
          </a:prstGeom>
          <a:noFill/>
          <a:ln/>
        </p:spPr>
        <p:txBody>
          <a:bodyPr wrap="square" lIns="0" tIns="0" rIns="0" bIns="0" rtlCol="0" anchor="t"/>
          <a:lstStyle/>
          <a:p>
            <a:pPr marL="0" indent="0" algn="l">
              <a:lnSpc>
                <a:spcPts val="2650"/>
              </a:lnSpc>
              <a:buNone/>
            </a:pPr>
            <a:r>
              <a:rPr lang="en-US" sz="1650" b="1" dirty="0">
                <a:solidFill>
                  <a:srgbClr val="4C4C4D"/>
                </a:solidFill>
                <a:latin typeface="Heebo" pitchFamily="34" charset="0"/>
                <a:ea typeface="Heebo" pitchFamily="34" charset="-122"/>
                <a:cs typeface="Heebo" pitchFamily="34" charset="-120"/>
              </a:rPr>
              <a:t>Ensemble de postes téléphoniques destinés à recevoir des appels depuis un numéro précis dit numéro de groupe.</a:t>
            </a:r>
            <a:endParaRPr lang="en-US" sz="1650" b="1" dirty="0"/>
          </a:p>
        </p:txBody>
      </p:sp>
      <p:sp>
        <p:nvSpPr>
          <p:cNvPr id="7" name="Text 3"/>
          <p:cNvSpPr/>
          <p:nvPr/>
        </p:nvSpPr>
        <p:spPr>
          <a:xfrm>
            <a:off x="1702035" y="2881518"/>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C4C4D"/>
                </a:solidFill>
                <a:latin typeface="Crimson Pro Semi Bold" pitchFamily="34" charset="0"/>
                <a:ea typeface="Crimson Pro Semi Bold" pitchFamily="34" charset="-122"/>
                <a:cs typeface="Crimson Pro Semi Bold" pitchFamily="34" charset="-120"/>
              </a:rPr>
              <a:t>Stratégies</a:t>
            </a:r>
            <a:endParaRPr lang="en-US" sz="2100" dirty="0"/>
          </a:p>
        </p:txBody>
      </p:sp>
      <p:sp>
        <p:nvSpPr>
          <p:cNvPr id="8" name="Text 4"/>
          <p:cNvSpPr/>
          <p:nvPr/>
        </p:nvSpPr>
        <p:spPr>
          <a:xfrm>
            <a:off x="1244696" y="3352449"/>
            <a:ext cx="6260902" cy="1004469"/>
          </a:xfrm>
          <a:prstGeom prst="rect">
            <a:avLst/>
          </a:prstGeom>
          <a:noFill/>
          <a:ln/>
        </p:spPr>
        <p:txBody>
          <a:bodyPr wrap="square" lIns="0" tIns="0" rIns="0" bIns="0" rtlCol="0" anchor="t"/>
          <a:lstStyle/>
          <a:p>
            <a:pPr marL="0" indent="0" algn="l">
              <a:lnSpc>
                <a:spcPts val="2650"/>
              </a:lnSpc>
              <a:buNone/>
            </a:pPr>
            <a:r>
              <a:rPr lang="en-US" sz="1650" b="1" dirty="0">
                <a:solidFill>
                  <a:srgbClr val="4C4C4D"/>
                </a:solidFill>
                <a:latin typeface="Heebo" pitchFamily="34" charset="0"/>
                <a:ea typeface="Heebo" pitchFamily="34" charset="-122"/>
                <a:cs typeface="Heebo" pitchFamily="34" charset="-120"/>
              </a:rPr>
              <a:t>Ring All: fait sonner tous les postes simultanément. Memoryhunt: fait sonner les postes progressivement selon une liste prédéfinie.</a:t>
            </a:r>
            <a:endParaRPr lang="en-US" sz="1650" b="1" dirty="0"/>
          </a:p>
        </p:txBody>
      </p:sp>
      <p:sp>
        <p:nvSpPr>
          <p:cNvPr id="9" name="Text 5"/>
          <p:cNvSpPr/>
          <p:nvPr/>
        </p:nvSpPr>
        <p:spPr>
          <a:xfrm>
            <a:off x="1244696" y="4494236"/>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C4C4D"/>
                </a:solidFill>
                <a:latin typeface="Crimson Pro Semi Bold" pitchFamily="34" charset="0"/>
                <a:ea typeface="Crimson Pro Semi Bold" pitchFamily="34" charset="-122"/>
                <a:cs typeface="Crimson Pro Semi Bold" pitchFamily="34" charset="-120"/>
              </a:rPr>
              <a:t>Configuration</a:t>
            </a:r>
            <a:endParaRPr lang="en-US" sz="2100" dirty="0"/>
          </a:p>
        </p:txBody>
      </p:sp>
      <p:sp>
        <p:nvSpPr>
          <p:cNvPr id="10" name="Text 6"/>
          <p:cNvSpPr/>
          <p:nvPr/>
        </p:nvSpPr>
        <p:spPr>
          <a:xfrm>
            <a:off x="1244696" y="4926216"/>
            <a:ext cx="6260902" cy="1025128"/>
          </a:xfrm>
          <a:prstGeom prst="rect">
            <a:avLst/>
          </a:prstGeom>
          <a:noFill/>
          <a:ln/>
        </p:spPr>
        <p:txBody>
          <a:bodyPr wrap="square" lIns="0" tIns="0" rIns="0" bIns="0" rtlCol="0" anchor="t"/>
          <a:lstStyle/>
          <a:p>
            <a:pPr marL="0" indent="0" algn="l">
              <a:lnSpc>
                <a:spcPts val="2650"/>
              </a:lnSpc>
              <a:buNone/>
            </a:pPr>
            <a:r>
              <a:rPr lang="en-US" sz="1650" b="1" dirty="0">
                <a:solidFill>
                  <a:srgbClr val="4C4C4D"/>
                </a:solidFill>
                <a:latin typeface="Heebo" pitchFamily="34" charset="0"/>
                <a:ea typeface="Heebo" pitchFamily="34" charset="-122"/>
                <a:cs typeface="Heebo" pitchFamily="34" charset="-120"/>
              </a:rPr>
              <a:t>Dans Elastix, onglet PBX: définir un numéro et description du groupe, choisir la stratégie, ajouter les extensions, configurer une destination par défaut.</a:t>
            </a:r>
            <a:endParaRPr lang="en-US" sz="1650" b="1" dirty="0"/>
          </a:p>
        </p:txBody>
      </p:sp>
      <p:pic>
        <p:nvPicPr>
          <p:cNvPr id="11" name="Image 1" descr="preencoded.png"/>
          <p:cNvPicPr>
            <a:picLocks noChangeAspect="1"/>
          </p:cNvPicPr>
          <p:nvPr/>
        </p:nvPicPr>
        <p:blipFill>
          <a:blip r:embed="rId2"/>
          <a:stretch>
            <a:fillRect/>
          </a:stretch>
        </p:blipFill>
        <p:spPr>
          <a:xfrm>
            <a:off x="79501" y="1124488"/>
            <a:ext cx="1067872" cy="1572101"/>
          </a:xfrm>
          <a:prstGeom prst="rect">
            <a:avLst/>
          </a:prstGeom>
        </p:spPr>
      </p:pic>
      <p:pic>
        <p:nvPicPr>
          <p:cNvPr id="12" name="Image 2" descr="preencoded.png"/>
          <p:cNvPicPr>
            <a:picLocks noChangeAspect="1"/>
          </p:cNvPicPr>
          <p:nvPr/>
        </p:nvPicPr>
        <p:blipFill>
          <a:blip r:embed="rId3"/>
          <a:stretch>
            <a:fillRect/>
          </a:stretch>
        </p:blipFill>
        <p:spPr>
          <a:xfrm>
            <a:off x="79501" y="2829681"/>
            <a:ext cx="1067872" cy="1572101"/>
          </a:xfrm>
          <a:prstGeom prst="rect">
            <a:avLst/>
          </a:prstGeom>
        </p:spPr>
      </p:pic>
      <p:pic>
        <p:nvPicPr>
          <p:cNvPr id="13" name="Image 3" descr="preencoded.png"/>
          <p:cNvPicPr>
            <a:picLocks noChangeAspect="1"/>
          </p:cNvPicPr>
          <p:nvPr/>
        </p:nvPicPr>
        <p:blipFill>
          <a:blip r:embed="rId4"/>
          <a:stretch>
            <a:fillRect/>
          </a:stretch>
        </p:blipFill>
        <p:spPr>
          <a:xfrm>
            <a:off x="76542" y="4481875"/>
            <a:ext cx="1067872" cy="1913811"/>
          </a:xfrm>
          <a:prstGeom prst="rect">
            <a:avLst/>
          </a:prstGeom>
        </p:spPr>
      </p:pic>
      <p:pic>
        <p:nvPicPr>
          <p:cNvPr id="14" name="Image 0" descr="preencoded.png"/>
          <p:cNvPicPr>
            <a:picLocks noChangeAspect="1"/>
          </p:cNvPicPr>
          <p:nvPr/>
        </p:nvPicPr>
        <p:blipFill>
          <a:blip r:embed="rId5"/>
          <a:stretch>
            <a:fillRect/>
          </a:stretch>
        </p:blipFill>
        <p:spPr>
          <a:xfrm>
            <a:off x="7505598" y="811605"/>
            <a:ext cx="4686402" cy="6046395"/>
          </a:xfrm>
          <a:prstGeom prst="rect">
            <a:avLst/>
          </a:prstGeom>
        </p:spPr>
      </p:pic>
    </p:spTree>
    <p:extLst>
      <p:ext uri="{BB962C8B-B14F-4D97-AF65-F5344CB8AC3E}">
        <p14:creationId xmlns:p14="http://schemas.microsoft.com/office/powerpoint/2010/main" val="131482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75349" y="177386"/>
            <a:ext cx="5670590" cy="708779"/>
          </a:xfrm>
          <a:prstGeom prst="rect">
            <a:avLst/>
          </a:prstGeom>
          <a:noFill/>
          <a:ln/>
        </p:spPr>
        <p:txBody>
          <a:bodyPr wrap="none" lIns="0" tIns="0" rIns="0" bIns="0" rtlCol="0" anchor="t"/>
          <a:lstStyle/>
          <a:p>
            <a:pPr marL="1028700" indent="-1028700" algn="l">
              <a:lnSpc>
                <a:spcPts val="5550"/>
              </a:lnSpc>
              <a:buFont typeface="+mj-lt"/>
              <a:buAutoNum type="romanUcPeriod" startAt="4"/>
            </a:pPr>
            <a:r>
              <a:rPr lang="en-US" sz="4450" dirty="0">
                <a:solidFill>
                  <a:srgbClr val="152D47"/>
                </a:solidFill>
                <a:latin typeface="Crimson Pro Semi Bold" pitchFamily="34" charset="0"/>
                <a:ea typeface="Crimson Pro Semi Bold" pitchFamily="34" charset="-122"/>
                <a:cs typeface="Crimson Pro Semi Bold" pitchFamily="34" charset="-120"/>
              </a:rPr>
              <a:t>Renvoi d'Appel</a:t>
            </a:r>
            <a:endParaRPr lang="en-US" sz="4450" dirty="0"/>
          </a:p>
        </p:txBody>
      </p:sp>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1880" y="1289500"/>
            <a:ext cx="3990676" cy="3248168"/>
          </a:xfrm>
          <a:prstGeom prst="rect">
            <a:avLst/>
          </a:prstGeom>
        </p:spPr>
      </p:pic>
      <p:sp>
        <p:nvSpPr>
          <p:cNvPr id="9" name="Text 1"/>
          <p:cNvSpPr/>
          <p:nvPr/>
        </p:nvSpPr>
        <p:spPr>
          <a:xfrm>
            <a:off x="153454" y="225344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Renvoi immédiat</a:t>
            </a:r>
            <a:endParaRPr lang="en-US" sz="2200" dirty="0"/>
          </a:p>
        </p:txBody>
      </p:sp>
      <p:sp>
        <p:nvSpPr>
          <p:cNvPr id="10" name="Text 2"/>
          <p:cNvSpPr/>
          <p:nvPr/>
        </p:nvSpPr>
        <p:spPr>
          <a:xfrm>
            <a:off x="0" y="3005702"/>
            <a:ext cx="3911378" cy="1938693"/>
          </a:xfrm>
          <a:prstGeom prst="rect">
            <a:avLst/>
          </a:prstGeom>
          <a:noFill/>
          <a:ln/>
        </p:spPr>
        <p:txBody>
          <a:bodyPr wrap="square" lIns="0" tIns="0" rIns="0" bIns="0" rtlCol="0" anchor="t"/>
          <a:lstStyle/>
          <a:p>
            <a:pPr marL="0" indent="0" algn="r">
              <a:lnSpc>
                <a:spcPts val="2850"/>
              </a:lnSpc>
              <a:buNone/>
            </a:pPr>
            <a:r>
              <a:rPr lang="en-US" sz="1750" b="1" dirty="0">
                <a:solidFill>
                  <a:srgbClr val="4C4C4D"/>
                </a:solidFill>
                <a:latin typeface="Heebo" pitchFamily="34" charset="0"/>
                <a:ea typeface="Heebo" pitchFamily="34" charset="-122"/>
                <a:cs typeface="Heebo" pitchFamily="34" charset="-120"/>
              </a:rPr>
              <a:t>L'appel est immédiatement redirigé vers un autre poste. Configuré avec FOLLOW ME sur une extension , stratégie ringall pendant 0s</a:t>
            </a:r>
            <a:r>
              <a:rPr lang="en-US" sz="1750" dirty="0">
                <a:solidFill>
                  <a:srgbClr val="4C4C4D"/>
                </a:solidFill>
                <a:latin typeface="Heebo" pitchFamily="34" charset="0"/>
                <a:ea typeface="Heebo" pitchFamily="34" charset="-122"/>
                <a:cs typeface="Heebo" pitchFamily="34" charset="-120"/>
              </a:rPr>
              <a:t>.</a:t>
            </a:r>
            <a:endParaRPr lang="en-US" sz="1750" dirty="0"/>
          </a:p>
        </p:txBody>
      </p:sp>
      <p:sp>
        <p:nvSpPr>
          <p:cNvPr id="11" name="Text 3"/>
          <p:cNvSpPr/>
          <p:nvPr/>
        </p:nvSpPr>
        <p:spPr>
          <a:xfrm>
            <a:off x="8833355" y="150812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Renvoi sur non réponse</a:t>
            </a:r>
            <a:endParaRPr lang="en-US" sz="2200" dirty="0"/>
          </a:p>
        </p:txBody>
      </p:sp>
      <p:sp>
        <p:nvSpPr>
          <p:cNvPr id="12" name="Text 4"/>
          <p:cNvSpPr/>
          <p:nvPr/>
        </p:nvSpPr>
        <p:spPr>
          <a:xfrm>
            <a:off x="8655932" y="2029811"/>
            <a:ext cx="3536068" cy="1155922"/>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L'appel est redirigé si le poste appelé n'a pas décroché au bout de 10s de sonnerie.</a:t>
            </a:r>
            <a:endParaRPr lang="en-US" sz="1750" b="1" dirty="0"/>
          </a:p>
        </p:txBody>
      </p:sp>
      <p:sp>
        <p:nvSpPr>
          <p:cNvPr id="13" name="Text 5"/>
          <p:cNvSpPr/>
          <p:nvPr/>
        </p:nvSpPr>
        <p:spPr>
          <a:xfrm>
            <a:off x="6376755" y="5091128"/>
            <a:ext cx="3053847"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Renvoi sur poste occupé</a:t>
            </a:r>
            <a:endParaRPr lang="en-US" sz="2200" dirty="0"/>
          </a:p>
        </p:txBody>
      </p:sp>
      <p:sp>
        <p:nvSpPr>
          <p:cNvPr id="14" name="Text 6"/>
          <p:cNvSpPr/>
          <p:nvPr/>
        </p:nvSpPr>
        <p:spPr>
          <a:xfrm>
            <a:off x="6011990" y="5698668"/>
            <a:ext cx="4238982"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L'appel est redirigé vers un autre poste si le poste appelé est occupé.</a:t>
            </a:r>
            <a:endParaRPr lang="en-US" sz="1750" b="1" dirty="0"/>
          </a:p>
        </p:txBody>
      </p:sp>
    </p:spTree>
    <p:extLst>
      <p:ext uri="{BB962C8B-B14F-4D97-AF65-F5344CB8AC3E}">
        <p14:creationId xmlns:p14="http://schemas.microsoft.com/office/powerpoint/2010/main" val="708252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
          <p:cNvSpPr/>
          <p:nvPr/>
        </p:nvSpPr>
        <p:spPr>
          <a:xfrm>
            <a:off x="5037714" y="1027115"/>
            <a:ext cx="3167391" cy="3531520"/>
          </a:xfrm>
          <a:prstGeom prst="roundRect">
            <a:avLst>
              <a:gd name="adj" fmla="val 802"/>
            </a:avLst>
          </a:prstGeom>
          <a:solidFill>
            <a:srgbClr val="F2EEEE"/>
          </a:solidFill>
          <a:ln/>
        </p:spPr>
      </p:sp>
      <p:sp>
        <p:nvSpPr>
          <p:cNvPr id="5" name="Text 2"/>
          <p:cNvSpPr/>
          <p:nvPr/>
        </p:nvSpPr>
        <p:spPr>
          <a:xfrm>
            <a:off x="5240208" y="1248930"/>
            <a:ext cx="2517815" cy="314682"/>
          </a:xfrm>
          <a:prstGeom prst="rect">
            <a:avLst/>
          </a:prstGeom>
          <a:noFill/>
          <a:ln/>
        </p:spPr>
        <p:txBody>
          <a:bodyPr wrap="none" lIns="0" tIns="0" rIns="0" bIns="0" rtlCol="0" anchor="t"/>
          <a:lstStyle/>
          <a:p>
            <a:pPr marL="0" indent="0" algn="l">
              <a:lnSpc>
                <a:spcPts val="2450"/>
              </a:lnSpc>
              <a:buNone/>
            </a:pPr>
            <a:r>
              <a:rPr lang="en-US" sz="1950" dirty="0">
                <a:solidFill>
                  <a:srgbClr val="4C4C4D"/>
                </a:solidFill>
                <a:latin typeface="Crimson Pro Semi Bold" pitchFamily="34" charset="0"/>
                <a:ea typeface="Crimson Pro Semi Bold" pitchFamily="34" charset="-122"/>
                <a:cs typeface="Crimson Pro Semi Bold" pitchFamily="34" charset="-120"/>
              </a:rPr>
              <a:t>Configuration Manuelle</a:t>
            </a:r>
            <a:endParaRPr lang="en-US" sz="1950" dirty="0"/>
          </a:p>
        </p:txBody>
      </p:sp>
      <p:sp>
        <p:nvSpPr>
          <p:cNvPr id="6" name="Text 3"/>
          <p:cNvSpPr/>
          <p:nvPr/>
        </p:nvSpPr>
        <p:spPr>
          <a:xfrm>
            <a:off x="5154919" y="1715525"/>
            <a:ext cx="3050186" cy="1212450"/>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Transfert non supervisé: l'utilisateur A transfère directement l'appel de B vers C sans vérification préalable.</a:t>
            </a:r>
            <a:endParaRPr lang="en-US" sz="1550" dirty="0"/>
          </a:p>
        </p:txBody>
      </p:sp>
      <p:sp>
        <p:nvSpPr>
          <p:cNvPr id="7" name="Text 4"/>
          <p:cNvSpPr/>
          <p:nvPr/>
        </p:nvSpPr>
        <p:spPr>
          <a:xfrm>
            <a:off x="5135645" y="3195160"/>
            <a:ext cx="3050186" cy="1289209"/>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Transfert supervisé: l'utilisateur A met B en attente, appelle C pour vérifier sa disponibilité, puis transfère l'appel.</a:t>
            </a:r>
            <a:endParaRPr lang="en-US" sz="1550" dirty="0"/>
          </a:p>
        </p:txBody>
      </p:sp>
      <p:sp>
        <p:nvSpPr>
          <p:cNvPr id="12" name="Shape 5"/>
          <p:cNvSpPr/>
          <p:nvPr/>
        </p:nvSpPr>
        <p:spPr>
          <a:xfrm>
            <a:off x="8538088" y="1030396"/>
            <a:ext cx="3407032" cy="3528239"/>
          </a:xfrm>
          <a:prstGeom prst="roundRect">
            <a:avLst>
              <a:gd name="adj" fmla="val 802"/>
            </a:avLst>
          </a:prstGeom>
          <a:solidFill>
            <a:srgbClr val="F2EEEE"/>
          </a:solidFill>
          <a:ln/>
        </p:spPr>
      </p:sp>
      <p:sp>
        <p:nvSpPr>
          <p:cNvPr id="13" name="Text 6"/>
          <p:cNvSpPr/>
          <p:nvPr/>
        </p:nvSpPr>
        <p:spPr>
          <a:xfrm>
            <a:off x="8795530" y="1217235"/>
            <a:ext cx="2892147" cy="314682"/>
          </a:xfrm>
          <a:prstGeom prst="rect">
            <a:avLst/>
          </a:prstGeom>
          <a:noFill/>
          <a:ln/>
        </p:spPr>
        <p:txBody>
          <a:bodyPr wrap="none" lIns="0" tIns="0" rIns="0" bIns="0" rtlCol="0" anchor="t"/>
          <a:lstStyle/>
          <a:p>
            <a:pPr marL="0" indent="0" algn="l">
              <a:lnSpc>
                <a:spcPts val="2450"/>
              </a:lnSpc>
              <a:buNone/>
            </a:pPr>
            <a:r>
              <a:rPr lang="en-US" sz="1950" dirty="0">
                <a:solidFill>
                  <a:srgbClr val="4C4C4D"/>
                </a:solidFill>
                <a:latin typeface="Crimson Pro Semi Bold" pitchFamily="34" charset="0"/>
                <a:ea typeface="Crimson Pro Semi Bold" pitchFamily="34" charset="-122"/>
                <a:cs typeface="Crimson Pro Semi Bold" pitchFamily="34" charset="-120"/>
              </a:rPr>
              <a:t>Configuration Automatique</a:t>
            </a:r>
            <a:endParaRPr lang="en-US" sz="1950" dirty="0"/>
          </a:p>
        </p:txBody>
      </p:sp>
      <p:sp>
        <p:nvSpPr>
          <p:cNvPr id="14" name="Text 7"/>
          <p:cNvSpPr/>
          <p:nvPr/>
        </p:nvSpPr>
        <p:spPr>
          <a:xfrm>
            <a:off x="8659379" y="1678108"/>
            <a:ext cx="3363754" cy="966907"/>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Transfert inconditionnel: *72 + numéro de destination (désactivation: *73)</a:t>
            </a:r>
            <a:endParaRPr lang="en-US" sz="1550" dirty="0"/>
          </a:p>
        </p:txBody>
      </p:sp>
      <p:sp>
        <p:nvSpPr>
          <p:cNvPr id="15" name="Text 8"/>
          <p:cNvSpPr/>
          <p:nvPr/>
        </p:nvSpPr>
        <p:spPr>
          <a:xfrm>
            <a:off x="8620373" y="2413336"/>
            <a:ext cx="3363754" cy="966907"/>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Transfert sur poste occupé: *90 + numéro de destination (désactivation: *91)</a:t>
            </a:r>
            <a:endParaRPr lang="en-US" sz="1550" dirty="0"/>
          </a:p>
        </p:txBody>
      </p:sp>
      <p:sp>
        <p:nvSpPr>
          <p:cNvPr id="16" name="Text 9"/>
          <p:cNvSpPr/>
          <p:nvPr/>
        </p:nvSpPr>
        <p:spPr>
          <a:xfrm>
            <a:off x="8581366" y="3491828"/>
            <a:ext cx="3363754" cy="966907"/>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Transfert sur non-réponse: *900 + numéro de destination (désactivation: *92)</a:t>
            </a:r>
            <a:endParaRPr lang="en-US" sz="1550" dirty="0"/>
          </a:p>
        </p:txBody>
      </p:sp>
      <p:sp>
        <p:nvSpPr>
          <p:cNvPr id="17" name="Shape 10"/>
          <p:cNvSpPr/>
          <p:nvPr/>
        </p:nvSpPr>
        <p:spPr>
          <a:xfrm>
            <a:off x="5135645" y="4679484"/>
            <a:ext cx="6962354" cy="2059683"/>
          </a:xfrm>
          <a:prstGeom prst="roundRect">
            <a:avLst>
              <a:gd name="adj" fmla="val 1569"/>
            </a:avLst>
          </a:prstGeom>
          <a:solidFill>
            <a:srgbClr val="F2EEEE"/>
          </a:solidFill>
          <a:ln/>
        </p:spPr>
      </p:sp>
      <p:sp>
        <p:nvSpPr>
          <p:cNvPr id="18" name="Text 11"/>
          <p:cNvSpPr/>
          <p:nvPr/>
        </p:nvSpPr>
        <p:spPr>
          <a:xfrm>
            <a:off x="5668016" y="4856179"/>
            <a:ext cx="2517815" cy="314682"/>
          </a:xfrm>
          <a:prstGeom prst="rect">
            <a:avLst/>
          </a:prstGeom>
          <a:noFill/>
          <a:ln/>
        </p:spPr>
        <p:txBody>
          <a:bodyPr wrap="none" lIns="0" tIns="0" rIns="0" bIns="0" rtlCol="0" anchor="t"/>
          <a:lstStyle/>
          <a:p>
            <a:pPr marL="0" indent="0" algn="l">
              <a:lnSpc>
                <a:spcPts val="2450"/>
              </a:lnSpc>
              <a:buNone/>
            </a:pPr>
            <a:r>
              <a:rPr lang="en-US" sz="1950" dirty="0">
                <a:solidFill>
                  <a:srgbClr val="4C4C4D"/>
                </a:solidFill>
                <a:latin typeface="Crimson Pro Semi Bold" pitchFamily="34" charset="0"/>
                <a:ea typeface="Crimson Pro Semi Bold" pitchFamily="34" charset="-122"/>
                <a:cs typeface="Crimson Pro Semi Bold" pitchFamily="34" charset="-120"/>
              </a:rPr>
              <a:t>Avantages</a:t>
            </a:r>
            <a:endParaRPr lang="en-US" sz="1950" dirty="0"/>
          </a:p>
        </p:txBody>
      </p:sp>
      <p:sp>
        <p:nvSpPr>
          <p:cNvPr id="19" name="Text 12"/>
          <p:cNvSpPr/>
          <p:nvPr/>
        </p:nvSpPr>
        <p:spPr>
          <a:xfrm>
            <a:off x="5222803" y="5310410"/>
            <a:ext cx="6722318" cy="644604"/>
          </a:xfrm>
          <a:prstGeom prst="rect">
            <a:avLst/>
          </a:prstGeom>
          <a:noFill/>
          <a:ln/>
        </p:spPr>
        <p:txBody>
          <a:bodyPr wrap="squar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Fonctionnalité puissante permettant de rediriger les appels selon des conditions spécifiques.</a:t>
            </a:r>
            <a:endParaRPr lang="en-US" sz="1550" dirty="0"/>
          </a:p>
        </p:txBody>
      </p:sp>
      <p:sp>
        <p:nvSpPr>
          <p:cNvPr id="20" name="Text 13"/>
          <p:cNvSpPr/>
          <p:nvPr/>
        </p:nvSpPr>
        <p:spPr>
          <a:xfrm>
            <a:off x="5129834" y="6305266"/>
            <a:ext cx="6689128" cy="280674"/>
          </a:xfrm>
          <a:prstGeom prst="rect">
            <a:avLst/>
          </a:prstGeom>
          <a:noFill/>
          <a:ln/>
        </p:spPr>
        <p:txBody>
          <a:bodyPr wrap="none" lIns="0" tIns="0" rIns="0" bIns="0" rtlCol="0" anchor="t"/>
          <a:lstStyle/>
          <a:p>
            <a:pPr marL="0" indent="0" algn="l">
              <a:lnSpc>
                <a:spcPts val="2500"/>
              </a:lnSpc>
              <a:buNone/>
            </a:pPr>
            <a:r>
              <a:rPr lang="en-US" sz="1550" dirty="0">
                <a:solidFill>
                  <a:srgbClr val="4C4C4D"/>
                </a:solidFill>
                <a:latin typeface="Heebo" pitchFamily="34" charset="0"/>
                <a:ea typeface="Heebo" pitchFamily="34" charset="-122"/>
                <a:cs typeface="Heebo" pitchFamily="34" charset="-120"/>
              </a:rPr>
              <a:t>Améliore la gestion des communications et la disponibilité des collaborateurs.</a:t>
            </a:r>
            <a:endParaRPr lang="en-US" sz="1550" dirty="0"/>
          </a:p>
        </p:txBody>
      </p:sp>
      <p:sp>
        <p:nvSpPr>
          <p:cNvPr id="21" name="Text 0"/>
          <p:cNvSpPr/>
          <p:nvPr/>
        </p:nvSpPr>
        <p:spPr>
          <a:xfrm>
            <a:off x="6277656" y="150035"/>
            <a:ext cx="5035748" cy="629483"/>
          </a:xfrm>
          <a:prstGeom prst="rect">
            <a:avLst/>
          </a:prstGeom>
          <a:noFill/>
          <a:ln/>
        </p:spPr>
        <p:txBody>
          <a:bodyPr wrap="none" lIns="0" tIns="0" rIns="0" bIns="0" rtlCol="0" anchor="t"/>
          <a:lstStyle/>
          <a:p>
            <a:pPr marL="857250" indent="-857250" algn="l">
              <a:lnSpc>
                <a:spcPts val="4950"/>
              </a:lnSpc>
              <a:buFont typeface="+mj-lt"/>
              <a:buAutoNum type="romanUcPeriod" startAt="5"/>
            </a:pPr>
            <a:r>
              <a:rPr lang="en-US" sz="3950" dirty="0">
                <a:solidFill>
                  <a:srgbClr val="152D47"/>
                </a:solidFill>
                <a:latin typeface="Crimson Pro Semi Bold" pitchFamily="34" charset="0"/>
                <a:ea typeface="Crimson Pro Semi Bold" pitchFamily="34" charset="-122"/>
                <a:cs typeface="Crimson Pro Semi Bold" pitchFamily="34" charset="-120"/>
              </a:rPr>
              <a:t>Transfert d'Appel</a:t>
            </a:r>
            <a:endParaRPr lang="en-US" sz="3950" dirty="0"/>
          </a:p>
        </p:txBody>
      </p:sp>
      <p:pic>
        <p:nvPicPr>
          <p:cNvPr id="22" name="Image 0" descr="preencoded.png"/>
          <p:cNvPicPr>
            <a:picLocks noChangeAspect="1"/>
          </p:cNvPicPr>
          <p:nvPr/>
        </p:nvPicPr>
        <p:blipFill>
          <a:blip r:embed="rId2"/>
          <a:stretch>
            <a:fillRect/>
          </a:stretch>
        </p:blipFill>
        <p:spPr>
          <a:xfrm>
            <a:off x="0" y="0"/>
            <a:ext cx="4982766" cy="6858000"/>
          </a:xfrm>
          <a:prstGeom prst="rect">
            <a:avLst/>
          </a:prstGeom>
        </p:spPr>
      </p:pic>
    </p:spTree>
    <p:extLst>
      <p:ext uri="{BB962C8B-B14F-4D97-AF65-F5344CB8AC3E}">
        <p14:creationId xmlns:p14="http://schemas.microsoft.com/office/powerpoint/2010/main" val="1199928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1012154" y="421426"/>
            <a:ext cx="5670590" cy="708779"/>
          </a:xfrm>
          <a:prstGeom prst="rect">
            <a:avLst/>
          </a:prstGeom>
          <a:noFill/>
          <a:ln/>
        </p:spPr>
        <p:txBody>
          <a:bodyPr wrap="none" lIns="0" tIns="0" rIns="0" bIns="0" rtlCol="0" anchor="t"/>
          <a:lstStyle/>
          <a:p>
            <a:pPr marL="1028700" indent="-1028700">
              <a:lnSpc>
                <a:spcPts val="5550"/>
              </a:lnSpc>
              <a:buFont typeface="+mj-lt"/>
              <a:buAutoNum type="romanUcPeriod" startAt="6"/>
            </a:pPr>
            <a:r>
              <a:rPr lang="en-US" sz="4450" dirty="0">
                <a:solidFill>
                  <a:srgbClr val="152D47"/>
                </a:solidFill>
                <a:latin typeface="Crimson Pro Semi Bold" pitchFamily="34" charset="0"/>
                <a:ea typeface="Crimson Pro Semi Bold" pitchFamily="34" charset="-122"/>
                <a:cs typeface="Crimson Pro Semi Bold" pitchFamily="34" charset="-120"/>
              </a:rPr>
              <a:t>Parcage d'Appel</a:t>
            </a:r>
          </a:p>
        </p:txBody>
      </p:sp>
      <p:sp>
        <p:nvSpPr>
          <p:cNvPr id="5" name="Text 2"/>
          <p:cNvSpPr/>
          <p:nvPr/>
        </p:nvSpPr>
        <p:spPr>
          <a:xfrm>
            <a:off x="944562" y="175348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Définition</a:t>
            </a:r>
            <a:endParaRPr lang="en-US" sz="2200" dirty="0"/>
          </a:p>
        </p:txBody>
      </p:sp>
      <p:sp>
        <p:nvSpPr>
          <p:cNvPr id="6" name="Text 3"/>
          <p:cNvSpPr/>
          <p:nvPr/>
        </p:nvSpPr>
        <p:spPr>
          <a:xfrm>
            <a:off x="699188" y="2280055"/>
            <a:ext cx="7046238" cy="1088708"/>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Fonctionnalité téléphonique permettant de mettre un appel en attente de manière temporaire pour faciliter la gestion des appels et la collaboration entre agents.</a:t>
            </a:r>
            <a:endParaRPr lang="en-US" sz="1750" b="1" dirty="0"/>
          </a:p>
        </p:txBody>
      </p:sp>
      <p:sp>
        <p:nvSpPr>
          <p:cNvPr id="7" name="Text 5"/>
          <p:cNvSpPr/>
          <p:nvPr/>
        </p:nvSpPr>
        <p:spPr>
          <a:xfrm>
            <a:off x="1019120" y="37728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Mise en situation</a:t>
            </a:r>
            <a:endParaRPr lang="en-US" sz="2200" dirty="0"/>
          </a:p>
        </p:txBody>
      </p:sp>
      <p:sp>
        <p:nvSpPr>
          <p:cNvPr id="8" name="Text 6"/>
          <p:cNvSpPr/>
          <p:nvPr/>
        </p:nvSpPr>
        <p:spPr>
          <a:xfrm>
            <a:off x="1154470" y="4248190"/>
            <a:ext cx="6706076"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Un client appelle le service client, mais l'agent doit consulter un collègue pour obtenir une information</a:t>
            </a:r>
            <a:r>
              <a:rPr lang="en-US" sz="1750" dirty="0">
                <a:solidFill>
                  <a:srgbClr val="4C4C4D"/>
                </a:solidFill>
                <a:latin typeface="Heebo" pitchFamily="34" charset="0"/>
                <a:ea typeface="Heebo" pitchFamily="34" charset="-122"/>
                <a:cs typeface="Heebo" pitchFamily="34" charset="-120"/>
              </a:rPr>
              <a:t>.</a:t>
            </a:r>
            <a:endParaRPr lang="en-US" sz="1750" dirty="0"/>
          </a:p>
        </p:txBody>
      </p:sp>
      <p:sp>
        <p:nvSpPr>
          <p:cNvPr id="9" name="Text 8"/>
          <p:cNvSpPr/>
          <p:nvPr/>
        </p:nvSpPr>
        <p:spPr>
          <a:xfrm>
            <a:off x="1654225" y="52297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Processus</a:t>
            </a:r>
            <a:endParaRPr lang="en-US" sz="2200" dirty="0"/>
          </a:p>
        </p:txBody>
      </p:sp>
      <p:sp>
        <p:nvSpPr>
          <p:cNvPr id="10" name="Text 9"/>
          <p:cNvSpPr/>
          <p:nvPr/>
        </p:nvSpPr>
        <p:spPr>
          <a:xfrm>
            <a:off x="1570630" y="5690593"/>
            <a:ext cx="6365796" cy="1088708"/>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L'agent "parque" l'appel, consulte son collègue, puis reprend l'appel à partir de son poste ou d'un autre poste pour répondre au client.</a:t>
            </a:r>
            <a:endParaRPr lang="en-US" sz="1750" b="1" dirty="0"/>
          </a:p>
        </p:txBody>
      </p:sp>
      <p:sp>
        <p:nvSpPr>
          <p:cNvPr id="11" name="Shape 1"/>
          <p:cNvSpPr/>
          <p:nvPr/>
        </p:nvSpPr>
        <p:spPr>
          <a:xfrm>
            <a:off x="383233" y="2107811"/>
            <a:ext cx="170021" cy="1579126"/>
          </a:xfrm>
          <a:prstGeom prst="roundRect">
            <a:avLst>
              <a:gd name="adj" fmla="val 20012"/>
            </a:avLst>
          </a:prstGeom>
          <a:solidFill>
            <a:srgbClr val="F2EEEE"/>
          </a:solidFill>
          <a:ln/>
        </p:spPr>
      </p:sp>
      <p:sp>
        <p:nvSpPr>
          <p:cNvPr id="12" name="Shape 4"/>
          <p:cNvSpPr/>
          <p:nvPr/>
        </p:nvSpPr>
        <p:spPr>
          <a:xfrm>
            <a:off x="699188" y="3837526"/>
            <a:ext cx="170021" cy="1216223"/>
          </a:xfrm>
          <a:prstGeom prst="roundRect">
            <a:avLst>
              <a:gd name="adj" fmla="val 20012"/>
            </a:avLst>
          </a:prstGeom>
          <a:solidFill>
            <a:srgbClr val="F2EEEE"/>
          </a:solidFill>
          <a:ln/>
        </p:spPr>
      </p:sp>
      <p:sp>
        <p:nvSpPr>
          <p:cNvPr id="13" name="Shape 7"/>
          <p:cNvSpPr/>
          <p:nvPr/>
        </p:nvSpPr>
        <p:spPr>
          <a:xfrm>
            <a:off x="1096618" y="5200175"/>
            <a:ext cx="115704" cy="1579126"/>
          </a:xfrm>
          <a:prstGeom prst="roundRect">
            <a:avLst>
              <a:gd name="adj" fmla="val 20012"/>
            </a:avLst>
          </a:prstGeom>
          <a:solidFill>
            <a:srgbClr val="F2EEEE"/>
          </a:solidFill>
          <a:ln/>
        </p:spPr>
      </p:sp>
      <p:pic>
        <p:nvPicPr>
          <p:cNvPr id="14" name="Image 0" descr="preencoded.png"/>
          <p:cNvPicPr>
            <a:picLocks noChangeAspect="1"/>
          </p:cNvPicPr>
          <p:nvPr/>
        </p:nvPicPr>
        <p:blipFill>
          <a:blip r:embed="rId2"/>
          <a:stretch>
            <a:fillRect/>
          </a:stretch>
        </p:blipFill>
        <p:spPr>
          <a:xfrm>
            <a:off x="7642746" y="0"/>
            <a:ext cx="4549253" cy="6858000"/>
          </a:xfrm>
          <a:prstGeom prst="rect">
            <a:avLst/>
          </a:prstGeom>
        </p:spPr>
      </p:pic>
    </p:spTree>
    <p:extLst>
      <p:ext uri="{BB962C8B-B14F-4D97-AF65-F5344CB8AC3E}">
        <p14:creationId xmlns:p14="http://schemas.microsoft.com/office/powerpoint/2010/main" val="342203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6"/>
            <a:ext cx="10515600" cy="617514"/>
          </a:xfrm>
        </p:spPr>
        <p:txBody>
          <a:bodyPr>
            <a:normAutofit fontScale="90000"/>
          </a:bodyPr>
          <a:lstStyle/>
          <a:p>
            <a:r>
              <a:rPr lang="en-US" dirty="0">
                <a:solidFill>
                  <a:srgbClr val="152D47"/>
                </a:solidFill>
                <a:latin typeface="Crimson Pro Semi Bold" pitchFamily="34" charset="0"/>
                <a:ea typeface="Crimson Pro Semi Bold" pitchFamily="34" charset="-122"/>
                <a:cs typeface="Crimson Pro Semi Bold" pitchFamily="34" charset="-120"/>
              </a:rPr>
              <a:t>  Configuration du </a:t>
            </a:r>
            <a:r>
              <a:rPr lang="en-US" dirty="0" err="1">
                <a:solidFill>
                  <a:srgbClr val="152D47"/>
                </a:solidFill>
                <a:latin typeface="Crimson Pro Semi Bold" pitchFamily="34" charset="0"/>
                <a:ea typeface="Crimson Pro Semi Bold" pitchFamily="34" charset="-122"/>
                <a:cs typeface="Crimson Pro Semi Bold" pitchFamily="34" charset="-120"/>
              </a:rPr>
              <a:t>parcage</a:t>
            </a:r>
            <a:r>
              <a:rPr lang="en-US" dirty="0">
                <a:solidFill>
                  <a:srgbClr val="152D47"/>
                </a:solidFill>
                <a:latin typeface="Crimson Pro Semi Bold" pitchFamily="34" charset="0"/>
                <a:ea typeface="Crimson Pro Semi Bold" pitchFamily="34" charset="-122"/>
                <a:cs typeface="Crimson Pro Semi Bold" pitchFamily="34" charset="-120"/>
              </a:rPr>
              <a:t> d'Appel</a:t>
            </a:r>
            <a:br>
              <a:rPr lang="en-US" dirty="0"/>
            </a:br>
            <a:endParaRPr lang="en-US" dirty="0"/>
          </a:p>
        </p:txBody>
      </p:sp>
      <p:sp>
        <p:nvSpPr>
          <p:cNvPr id="3" name="Espace réservé du texte 2"/>
          <p:cNvSpPr>
            <a:spLocks noGrp="1"/>
          </p:cNvSpPr>
          <p:nvPr>
            <p:ph type="body" idx="1"/>
          </p:nvPr>
        </p:nvSpPr>
        <p:spPr>
          <a:xfrm>
            <a:off x="0" y="1760329"/>
            <a:ext cx="4953966" cy="1249481"/>
          </a:xfrm>
        </p:spPr>
        <p:txBody>
          <a:bodyPr>
            <a:normAutofit/>
          </a:bodyPr>
          <a:lstStyle/>
          <a:p>
            <a:r>
              <a:rPr lang="fr-FR" sz="2000" dirty="0"/>
              <a:t>Création d’un parking Lot sous PBX Configuration : ici on renseigne le numéro du parking sur lequel seront transférées les appels, notre cas c’est 701.</a:t>
            </a:r>
            <a:endParaRPr lang="en-US" sz="2000" dirty="0"/>
          </a:p>
          <a:p>
            <a:endParaRPr lang="en-US" sz="2000" dirty="0"/>
          </a:p>
        </p:txBody>
      </p:sp>
      <p:sp>
        <p:nvSpPr>
          <p:cNvPr id="5" name="Espace réservé du texte 4"/>
          <p:cNvSpPr>
            <a:spLocks noGrp="1"/>
          </p:cNvSpPr>
          <p:nvPr>
            <p:ph type="body" sz="quarter" idx="3"/>
          </p:nvPr>
        </p:nvSpPr>
        <p:spPr>
          <a:xfrm>
            <a:off x="6097588" y="1781514"/>
            <a:ext cx="5183188" cy="1228296"/>
          </a:xfrm>
        </p:spPr>
        <p:txBody>
          <a:bodyPr>
            <a:noAutofit/>
          </a:bodyPr>
          <a:lstStyle/>
          <a:p>
            <a:pPr lvl="0"/>
            <a:r>
              <a:rPr lang="fr-FR" sz="1800" dirty="0"/>
              <a:t>Implémentation : L'utilisateur A appelle l'utilisateur B (935).L'utilisateur B répond à l'appel. L'utilisateur B appuie sur la touche Transfer ou compose le code de transfert (*2).L'utilisateur B compose le numéro de parking (701) et transfert l’appel. </a:t>
            </a:r>
            <a:endParaRPr lang="en-US" sz="1800" dirty="0"/>
          </a:p>
          <a:p>
            <a:endParaRPr lang="en-US" sz="1800" dirty="0"/>
          </a:p>
        </p:txBody>
      </p:sp>
      <p:pic>
        <p:nvPicPr>
          <p:cNvPr id="7" name="Picture 30"/>
          <p:cNvPicPr>
            <a:picLocks noGrp="1"/>
          </p:cNvPicPr>
          <p:nvPr>
            <p:ph sz="half" idx="2"/>
          </p:nvPr>
        </p:nvPicPr>
        <p:blipFill>
          <a:blip r:embed="rId2">
            <a:extLst>
              <a:ext uri="{28A0092B-C50C-407E-A947-70E740481C1C}">
                <a14:useLocalDpi xmlns:a14="http://schemas.microsoft.com/office/drawing/2010/main" val="0"/>
              </a:ext>
            </a:extLst>
          </a:blip>
          <a:stretch>
            <a:fillRect/>
          </a:stretch>
        </p:blipFill>
        <p:spPr>
          <a:xfrm>
            <a:off x="15719" y="2807918"/>
            <a:ext cx="4046112" cy="3684587"/>
          </a:xfrm>
          <a:prstGeom prst="rect">
            <a:avLst/>
          </a:prstGeom>
        </p:spPr>
      </p:pic>
      <p:pic>
        <p:nvPicPr>
          <p:cNvPr id="8" name="Picture 32"/>
          <p:cNvPicPr>
            <a:picLocks noGrp="1"/>
          </p:cNvPicPr>
          <p:nvPr>
            <p:ph sz="quarter" idx="4"/>
          </p:nvPr>
        </p:nvPicPr>
        <p:blipFill>
          <a:blip r:embed="rId3">
            <a:extLst>
              <a:ext uri="{28A0092B-C50C-407E-A947-70E740481C1C}">
                <a14:useLocalDpi xmlns:a14="http://schemas.microsoft.com/office/drawing/2010/main" val="0"/>
              </a:ext>
            </a:extLst>
          </a:blip>
          <a:stretch>
            <a:fillRect/>
          </a:stretch>
        </p:blipFill>
        <p:spPr>
          <a:xfrm>
            <a:off x="4885129" y="2908864"/>
            <a:ext cx="2057423" cy="3684587"/>
          </a:xfrm>
          <a:prstGeom prst="rect">
            <a:avLst/>
          </a:prstGeom>
        </p:spPr>
      </p:pic>
      <p:sp>
        <p:nvSpPr>
          <p:cNvPr id="9" name="ZoneTexte 8"/>
          <p:cNvSpPr txBox="1"/>
          <p:nvPr/>
        </p:nvSpPr>
        <p:spPr>
          <a:xfrm>
            <a:off x="6971209" y="2713989"/>
            <a:ext cx="3569791" cy="1754326"/>
          </a:xfrm>
          <a:prstGeom prst="rect">
            <a:avLst/>
          </a:prstGeom>
          <a:noFill/>
        </p:spPr>
        <p:txBody>
          <a:bodyPr wrap="square" rtlCol="0">
            <a:spAutoFit/>
          </a:bodyPr>
          <a:lstStyle/>
          <a:p>
            <a:r>
              <a:rPr lang="fr-FR" dirty="0"/>
              <a:t>L'appel est parqué et peut être récupéré sur une autre extension. L'utilisateur B compose le code de parcage d'appel (</a:t>
            </a:r>
            <a:r>
              <a:rPr lang="fr-FR" b="1" dirty="0"/>
              <a:t>*85</a:t>
            </a:r>
            <a:r>
              <a:rPr lang="fr-FR" dirty="0"/>
              <a:t>) sur une autre extension pour récupérer l’appel précédent</a:t>
            </a:r>
            <a:endParaRPr lang="en-US" dirty="0"/>
          </a:p>
        </p:txBody>
      </p:sp>
      <p:pic>
        <p:nvPicPr>
          <p:cNvPr id="10" name="Picture 33"/>
          <p:cNvPicPr/>
          <p:nvPr/>
        </p:nvPicPr>
        <p:blipFill>
          <a:blip r:embed="rId4" cstate="print">
            <a:extLst>
              <a:ext uri="{28A0092B-C50C-407E-A947-70E740481C1C}">
                <a14:useLocalDpi xmlns:a14="http://schemas.microsoft.com/office/drawing/2010/main" val="0"/>
              </a:ext>
            </a:extLst>
          </a:blip>
          <a:stretch>
            <a:fillRect/>
          </a:stretch>
        </p:blipFill>
        <p:spPr>
          <a:xfrm>
            <a:off x="10455276" y="3633054"/>
            <a:ext cx="1651000" cy="3103245"/>
          </a:xfrm>
          <a:prstGeom prst="rect">
            <a:avLst/>
          </a:prstGeom>
        </p:spPr>
      </p:pic>
    </p:spTree>
    <p:extLst>
      <p:ext uri="{BB962C8B-B14F-4D97-AF65-F5344CB8AC3E}">
        <p14:creationId xmlns:p14="http://schemas.microsoft.com/office/powerpoint/2010/main" val="1433014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0" y="0"/>
            <a:ext cx="8107454" cy="693896"/>
          </a:xfrm>
          <a:prstGeom prst="rect">
            <a:avLst/>
          </a:prstGeom>
          <a:noFill/>
          <a:ln/>
        </p:spPr>
        <p:txBody>
          <a:bodyPr wrap="none" lIns="0" tIns="0" rIns="0" bIns="0" rtlCol="0" anchor="t"/>
          <a:lstStyle/>
          <a:p>
            <a:pPr marL="857250" indent="-857250" algn="l">
              <a:lnSpc>
                <a:spcPts val="5450"/>
              </a:lnSpc>
              <a:buFont typeface="+mj-lt"/>
              <a:buAutoNum type="romanUcPeriod" startAt="7"/>
            </a:pPr>
            <a:r>
              <a:rPr lang="en-US" sz="4350" dirty="0">
                <a:solidFill>
                  <a:srgbClr val="152D47"/>
                </a:solidFill>
                <a:latin typeface="Crimson Pro Semi Bold" pitchFamily="34" charset="0"/>
                <a:ea typeface="Crimson Pro Semi Bold" pitchFamily="34" charset="-122"/>
                <a:cs typeface="Crimson Pro Semi Bold" pitchFamily="34" charset="-120"/>
              </a:rPr>
              <a:t>Serveur Vocal Interactif (IVR)</a:t>
            </a:r>
            <a:endParaRPr lang="en-US" sz="4350" dirty="0"/>
          </a:p>
        </p:txBody>
      </p:sp>
      <p:pic>
        <p:nvPicPr>
          <p:cNvPr id="9" name="Image 0" descr="preencoded.png"/>
          <p:cNvPicPr>
            <a:picLocks noChangeAspect="1"/>
          </p:cNvPicPr>
          <p:nvPr/>
        </p:nvPicPr>
        <p:blipFill>
          <a:blip r:embed="rId2"/>
          <a:stretch>
            <a:fillRect/>
          </a:stretch>
        </p:blipFill>
        <p:spPr>
          <a:xfrm>
            <a:off x="2154299" y="719149"/>
            <a:ext cx="2157413" cy="1279684"/>
          </a:xfrm>
          <a:prstGeom prst="rect">
            <a:avLst/>
          </a:prstGeom>
        </p:spPr>
      </p:pic>
      <p:pic>
        <p:nvPicPr>
          <p:cNvPr id="10" name="Image 1" descr="preencoded.png"/>
          <p:cNvPicPr>
            <a:picLocks noChangeAspect="1"/>
          </p:cNvPicPr>
          <p:nvPr/>
        </p:nvPicPr>
        <p:blipFill>
          <a:blip r:embed="rId3"/>
          <a:stretch>
            <a:fillRect/>
          </a:stretch>
        </p:blipFill>
        <p:spPr>
          <a:xfrm>
            <a:off x="3233006" y="1525861"/>
            <a:ext cx="312301" cy="390406"/>
          </a:xfrm>
          <a:prstGeom prst="rect">
            <a:avLst/>
          </a:prstGeom>
        </p:spPr>
      </p:pic>
      <p:sp>
        <p:nvSpPr>
          <p:cNvPr id="11" name="Text 1"/>
          <p:cNvSpPr/>
          <p:nvPr/>
        </p:nvSpPr>
        <p:spPr>
          <a:xfrm>
            <a:off x="4539020" y="1086280"/>
            <a:ext cx="2776180" cy="347067"/>
          </a:xfrm>
          <a:prstGeom prst="rect">
            <a:avLst/>
          </a:prstGeom>
          <a:noFill/>
          <a:ln/>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Expérience utilisateur</a:t>
            </a:r>
            <a:endParaRPr lang="en-US" sz="2150" dirty="0"/>
          </a:p>
        </p:txBody>
      </p:sp>
      <p:sp>
        <p:nvSpPr>
          <p:cNvPr id="12" name="Text 2"/>
          <p:cNvSpPr/>
          <p:nvPr/>
        </p:nvSpPr>
        <p:spPr>
          <a:xfrm>
            <a:off x="4913232" y="1398371"/>
            <a:ext cx="3781425" cy="355283"/>
          </a:xfrm>
          <a:prstGeom prst="rect">
            <a:avLst/>
          </a:prstGeom>
          <a:noFill/>
          <a:ln/>
        </p:spPr>
        <p:txBody>
          <a:bodyPr wrap="non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Interaction intuitive avec les appelants</a:t>
            </a:r>
            <a:endParaRPr lang="en-US" sz="1700" dirty="0"/>
          </a:p>
        </p:txBody>
      </p:sp>
      <p:sp>
        <p:nvSpPr>
          <p:cNvPr id="13" name="Shape 3"/>
          <p:cNvSpPr/>
          <p:nvPr/>
        </p:nvSpPr>
        <p:spPr>
          <a:xfrm>
            <a:off x="4394595" y="1988207"/>
            <a:ext cx="8617387" cy="15240"/>
          </a:xfrm>
          <a:prstGeom prst="roundRect">
            <a:avLst>
              <a:gd name="adj" fmla="val 218600"/>
            </a:avLst>
          </a:prstGeom>
          <a:solidFill>
            <a:srgbClr val="D8D4D4"/>
          </a:solidFill>
          <a:ln/>
        </p:spPr>
      </p:sp>
      <p:pic>
        <p:nvPicPr>
          <p:cNvPr id="14" name="Image 2" descr="preencoded.png"/>
          <p:cNvPicPr>
            <a:picLocks noChangeAspect="1"/>
          </p:cNvPicPr>
          <p:nvPr/>
        </p:nvPicPr>
        <p:blipFill>
          <a:blip r:embed="rId4"/>
          <a:stretch>
            <a:fillRect/>
          </a:stretch>
        </p:blipFill>
        <p:spPr>
          <a:xfrm>
            <a:off x="1075534" y="2041163"/>
            <a:ext cx="4314944" cy="1279684"/>
          </a:xfrm>
          <a:prstGeom prst="rect">
            <a:avLst/>
          </a:prstGeom>
        </p:spPr>
      </p:pic>
      <p:pic>
        <p:nvPicPr>
          <p:cNvPr id="15" name="Image 3" descr="preencoded.png"/>
          <p:cNvPicPr>
            <a:picLocks noChangeAspect="1"/>
          </p:cNvPicPr>
          <p:nvPr/>
        </p:nvPicPr>
        <p:blipFill>
          <a:blip r:embed="rId5"/>
          <a:stretch>
            <a:fillRect/>
          </a:stretch>
        </p:blipFill>
        <p:spPr>
          <a:xfrm>
            <a:off x="3237516" y="2451021"/>
            <a:ext cx="312301" cy="390406"/>
          </a:xfrm>
          <a:prstGeom prst="rect">
            <a:avLst/>
          </a:prstGeom>
        </p:spPr>
      </p:pic>
      <p:sp>
        <p:nvSpPr>
          <p:cNvPr id="16" name="Text 4"/>
          <p:cNvSpPr/>
          <p:nvPr/>
        </p:nvSpPr>
        <p:spPr>
          <a:xfrm>
            <a:off x="4721741" y="2144215"/>
            <a:ext cx="3178135" cy="347067"/>
          </a:xfrm>
          <a:prstGeom prst="rect">
            <a:avLst/>
          </a:prstGeom>
          <a:noFill/>
          <a:ln/>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Enregistrement du message</a:t>
            </a:r>
            <a:endParaRPr lang="en-US" sz="2150" dirty="0"/>
          </a:p>
        </p:txBody>
      </p:sp>
      <p:sp>
        <p:nvSpPr>
          <p:cNvPr id="17" name="Text 5"/>
          <p:cNvSpPr/>
          <p:nvPr/>
        </p:nvSpPr>
        <p:spPr>
          <a:xfrm>
            <a:off x="5139094" y="2541398"/>
            <a:ext cx="3555563" cy="355283"/>
          </a:xfrm>
          <a:prstGeom prst="rect">
            <a:avLst/>
          </a:prstGeom>
          <a:noFill/>
          <a:ln/>
        </p:spPr>
        <p:txBody>
          <a:bodyPr wrap="non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Via extension (*77) ou logiciel audio</a:t>
            </a:r>
            <a:endParaRPr lang="en-US" sz="1700" dirty="0"/>
          </a:p>
        </p:txBody>
      </p:sp>
      <p:sp>
        <p:nvSpPr>
          <p:cNvPr id="18" name="Shape 6"/>
          <p:cNvSpPr/>
          <p:nvPr/>
        </p:nvSpPr>
        <p:spPr>
          <a:xfrm>
            <a:off x="5443586" y="3313227"/>
            <a:ext cx="7538561" cy="15240"/>
          </a:xfrm>
          <a:prstGeom prst="roundRect">
            <a:avLst>
              <a:gd name="adj" fmla="val 218600"/>
            </a:avLst>
          </a:prstGeom>
          <a:solidFill>
            <a:srgbClr val="D8D4D4"/>
          </a:solidFill>
          <a:ln/>
        </p:spPr>
      </p:sp>
      <p:pic>
        <p:nvPicPr>
          <p:cNvPr id="19" name="Image 4" descr="preencoded.png"/>
          <p:cNvPicPr>
            <a:picLocks noChangeAspect="1"/>
          </p:cNvPicPr>
          <p:nvPr/>
        </p:nvPicPr>
        <p:blipFill>
          <a:blip r:embed="rId6"/>
          <a:stretch>
            <a:fillRect/>
          </a:stretch>
        </p:blipFill>
        <p:spPr>
          <a:xfrm>
            <a:off x="0" y="3396425"/>
            <a:ext cx="6472476" cy="1279684"/>
          </a:xfrm>
          <a:prstGeom prst="rect">
            <a:avLst/>
          </a:prstGeom>
        </p:spPr>
      </p:pic>
      <p:pic>
        <p:nvPicPr>
          <p:cNvPr id="20" name="Image 5" descr="preencoded.png"/>
          <p:cNvPicPr>
            <a:picLocks noChangeAspect="1"/>
          </p:cNvPicPr>
          <p:nvPr/>
        </p:nvPicPr>
        <p:blipFill>
          <a:blip r:embed="rId7"/>
          <a:stretch>
            <a:fillRect/>
          </a:stretch>
        </p:blipFill>
        <p:spPr>
          <a:xfrm>
            <a:off x="3294341" y="3564272"/>
            <a:ext cx="312301" cy="390406"/>
          </a:xfrm>
          <a:prstGeom prst="rect">
            <a:avLst/>
          </a:prstGeom>
        </p:spPr>
      </p:pic>
      <p:sp>
        <p:nvSpPr>
          <p:cNvPr id="21" name="Text 7"/>
          <p:cNvSpPr/>
          <p:nvPr/>
        </p:nvSpPr>
        <p:spPr>
          <a:xfrm>
            <a:off x="5722394" y="3453995"/>
            <a:ext cx="2776180" cy="347067"/>
          </a:xfrm>
          <a:prstGeom prst="rect">
            <a:avLst/>
          </a:prstGeom>
          <a:noFill/>
          <a:ln/>
        </p:spPr>
        <p:txBody>
          <a:bodyPr wrap="none" lIns="0" tIns="0" rIns="0" bIns="0" rtlCol="0" anchor="t"/>
          <a:lstStyle/>
          <a:p>
            <a:pPr marL="0" indent="0" algn="l">
              <a:lnSpc>
                <a:spcPts val="2700"/>
              </a:lnSpc>
              <a:buNone/>
            </a:pPr>
            <a:r>
              <a:rPr lang="en-US" sz="2150" dirty="0">
                <a:solidFill>
                  <a:srgbClr val="4C4C4D"/>
                </a:solidFill>
                <a:latin typeface="Crimson Pro Semi Bold" pitchFamily="34" charset="0"/>
                <a:ea typeface="Crimson Pro Semi Bold" pitchFamily="34" charset="-122"/>
                <a:cs typeface="Crimson Pro Semi Bold" pitchFamily="34" charset="-120"/>
              </a:rPr>
              <a:t>Configuration du menu</a:t>
            </a:r>
            <a:endParaRPr lang="en-US" sz="2150" dirty="0"/>
          </a:p>
        </p:txBody>
      </p:sp>
      <p:sp>
        <p:nvSpPr>
          <p:cNvPr id="22" name="Text 8"/>
          <p:cNvSpPr/>
          <p:nvPr/>
        </p:nvSpPr>
        <p:spPr>
          <a:xfrm>
            <a:off x="6472476" y="4021886"/>
            <a:ext cx="3798689" cy="355283"/>
          </a:xfrm>
          <a:prstGeom prst="rect">
            <a:avLst/>
          </a:prstGeom>
          <a:noFill/>
          <a:ln/>
        </p:spPr>
        <p:txBody>
          <a:bodyPr wrap="non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Options et redirections personnalisées</a:t>
            </a:r>
            <a:endParaRPr lang="en-US" sz="1700" dirty="0"/>
          </a:p>
        </p:txBody>
      </p:sp>
      <p:sp>
        <p:nvSpPr>
          <p:cNvPr id="23" name="Text 9"/>
          <p:cNvSpPr/>
          <p:nvPr/>
        </p:nvSpPr>
        <p:spPr>
          <a:xfrm>
            <a:off x="483213" y="4801637"/>
            <a:ext cx="10197384" cy="1134078"/>
          </a:xfrm>
          <a:prstGeom prst="rect">
            <a:avLst/>
          </a:prstGeom>
          <a:noFill/>
          <a:ln/>
        </p:spPr>
        <p:txBody>
          <a:bodyPr wrap="square" lIns="0" tIns="0" rIns="0" bIns="0" rtlCol="0" anchor="t"/>
          <a:lstStyle/>
          <a:p>
            <a:pPr marL="0" indent="0" algn="l">
              <a:lnSpc>
                <a:spcPts val="2750"/>
              </a:lnSpc>
              <a:buNone/>
            </a:pPr>
            <a:r>
              <a:rPr lang="en-US" sz="1700" b="1" dirty="0">
                <a:solidFill>
                  <a:srgbClr val="4C4C4D"/>
                </a:solidFill>
                <a:latin typeface="Heebo" pitchFamily="34" charset="0"/>
                <a:ea typeface="Heebo" pitchFamily="34" charset="-122"/>
                <a:cs typeface="Heebo" pitchFamily="34" charset="-120"/>
              </a:rPr>
              <a:t>Un serveur vocal interactif (IVR) est un système automatisé qui interagit avec les appelants via des menus vocaux. Il permet aux appelants de sélectionner des options et d'être dirigés vers le service approprié sans intervention humaine directe.</a:t>
            </a:r>
            <a:endParaRPr lang="en-US" sz="1700" b="1" dirty="0"/>
          </a:p>
        </p:txBody>
      </p:sp>
      <p:sp>
        <p:nvSpPr>
          <p:cNvPr id="24" name="Text 10"/>
          <p:cNvSpPr/>
          <p:nvPr/>
        </p:nvSpPr>
        <p:spPr>
          <a:xfrm>
            <a:off x="483213" y="5845788"/>
            <a:ext cx="10714175" cy="1108461"/>
          </a:xfrm>
          <a:prstGeom prst="rect">
            <a:avLst/>
          </a:prstGeom>
          <a:noFill/>
          <a:ln/>
        </p:spPr>
        <p:txBody>
          <a:bodyPr wrap="square" lIns="0" tIns="0" rIns="0" bIns="0" rtlCol="0" anchor="t"/>
          <a:lstStyle/>
          <a:p>
            <a:pPr marL="0" indent="0" algn="l">
              <a:lnSpc>
                <a:spcPts val="2750"/>
              </a:lnSpc>
              <a:buNone/>
            </a:pPr>
            <a:r>
              <a:rPr lang="en-US" sz="1700" b="1" dirty="0">
                <a:solidFill>
                  <a:srgbClr val="4C4C4D"/>
                </a:solidFill>
                <a:latin typeface="Heebo" pitchFamily="34" charset="0"/>
                <a:ea typeface="Heebo" pitchFamily="34" charset="-122"/>
                <a:cs typeface="Heebo" pitchFamily="34" charset="-120"/>
              </a:rPr>
              <a:t>La configuration se fait en deux étapes: l'enregistrement du message d'accueil avec les différentes options, puis le paramétrage du menu vocal </a:t>
            </a:r>
            <a:r>
              <a:rPr lang="en-US" sz="1700" b="1" dirty="0" err="1">
                <a:solidFill>
                  <a:srgbClr val="4C4C4D"/>
                </a:solidFill>
                <a:latin typeface="Heebo" pitchFamily="34" charset="0"/>
                <a:ea typeface="Heebo" pitchFamily="34" charset="-122"/>
                <a:cs typeface="Heebo" pitchFamily="34" charset="-120"/>
              </a:rPr>
              <a:t>dans</a:t>
            </a:r>
            <a:r>
              <a:rPr lang="en-US" sz="1700" b="1" dirty="0">
                <a:solidFill>
                  <a:srgbClr val="4C4C4D"/>
                </a:solidFill>
                <a:latin typeface="Heebo" pitchFamily="34" charset="0"/>
                <a:ea typeface="Heebo" pitchFamily="34" charset="-122"/>
                <a:cs typeface="Heebo" pitchFamily="34" charset="-120"/>
              </a:rPr>
              <a:t> l'interface d'Elastix, en associant chaque option à une destination spécifique.</a:t>
            </a:r>
            <a:endParaRPr lang="en-US" sz="1700" b="1" dirty="0"/>
          </a:p>
        </p:txBody>
      </p:sp>
    </p:spTree>
    <p:extLst>
      <p:ext uri="{BB962C8B-B14F-4D97-AF65-F5344CB8AC3E}">
        <p14:creationId xmlns:p14="http://schemas.microsoft.com/office/powerpoint/2010/main" val="48684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149901" y="419724"/>
            <a:ext cx="1514007" cy="787207"/>
          </a:xfrm>
          <a:prstGeom prst="rect">
            <a:avLst/>
          </a:prstGeom>
          <a:noFill/>
          <a:ln/>
        </p:spPr>
        <p:txBody>
          <a:bodyPr wrap="none" lIns="0" tIns="0" rIns="0" bIns="0" rtlCol="0" anchor="t"/>
          <a:lstStyle/>
          <a:p>
            <a:pPr algn="l">
              <a:lnSpc>
                <a:spcPts val="5450"/>
              </a:lnSpc>
            </a:pPr>
            <a:r>
              <a:rPr lang="en-US" sz="1600" dirty="0">
                <a:solidFill>
                  <a:srgbClr val="152D47"/>
                </a:solidFill>
                <a:latin typeface="Crimson Pro Semi Bold" pitchFamily="34" charset="0"/>
                <a:ea typeface="Crimson Pro Semi Bold" pitchFamily="34" charset="-122"/>
                <a:cs typeface="Crimson Pro Semi Bold" pitchFamily="34" charset="-120"/>
              </a:rPr>
              <a:t>Configuration</a:t>
            </a:r>
            <a:endParaRPr lang="en-US" sz="1600" dirty="0"/>
          </a:p>
        </p:txBody>
      </p:sp>
      <p:sp>
        <p:nvSpPr>
          <p:cNvPr id="8" name="ZoneTexte 7"/>
          <p:cNvSpPr txBox="1"/>
          <p:nvPr/>
        </p:nvSpPr>
        <p:spPr>
          <a:xfrm>
            <a:off x="-2" y="1091820"/>
            <a:ext cx="5964074" cy="4247317"/>
          </a:xfrm>
          <a:prstGeom prst="rect">
            <a:avLst/>
          </a:prstGeom>
          <a:noFill/>
        </p:spPr>
        <p:txBody>
          <a:bodyPr wrap="square" rtlCol="0">
            <a:spAutoFit/>
          </a:bodyPr>
          <a:lstStyle/>
          <a:p>
            <a:pPr marL="285750" lvl="0" indent="-285750">
              <a:buFont typeface="Wingdings" panose="05000000000000000000" pitchFamily="2" charset="2"/>
              <a:buChar char="q"/>
            </a:pPr>
            <a:r>
              <a:rPr lang="fr-FR" b="1" dirty="0"/>
              <a:t>L’enregistrement depuis un poste d’extension (931 dans notre cas)</a:t>
            </a:r>
            <a:r>
              <a:rPr lang="fr-FR" dirty="0"/>
              <a:t> : </a:t>
            </a:r>
          </a:p>
          <a:p>
            <a:r>
              <a:rPr lang="fr-FR" dirty="0"/>
              <a:t>après avoir composé le code </a:t>
            </a:r>
            <a:r>
              <a:rPr lang="fr-FR" b="1" dirty="0"/>
              <a:t>*77 </a:t>
            </a:r>
            <a:r>
              <a:rPr lang="fr-FR" dirty="0"/>
              <a:t>sur ledit poste, on laisse immédiatement le message puis on appuie sur </a:t>
            </a:r>
            <a:r>
              <a:rPr lang="fr-FR" b="1" dirty="0"/>
              <a:t># </a:t>
            </a:r>
            <a:r>
              <a:rPr lang="fr-FR" dirty="0"/>
              <a:t>pour l’enregistrer ou sur </a:t>
            </a:r>
            <a:r>
              <a:rPr lang="fr-FR" b="1" dirty="0"/>
              <a:t>1 </a:t>
            </a:r>
            <a:r>
              <a:rPr lang="fr-CM" dirty="0"/>
              <a:t>pour écouter ou alors sur </a:t>
            </a:r>
            <a:r>
              <a:rPr lang="fr-CM" b="1" dirty="0"/>
              <a:t>*</a:t>
            </a:r>
            <a:r>
              <a:rPr lang="fr-FR" b="1" dirty="0"/>
              <a:t># </a:t>
            </a:r>
            <a:r>
              <a:rPr lang="fr-CM" dirty="0"/>
              <a:t>réenregistrer le message</a:t>
            </a:r>
            <a:r>
              <a:rPr lang="fr-FR" dirty="0"/>
              <a:t>. Vérifier si le message a bien été enregistré en composant le </a:t>
            </a:r>
            <a:r>
              <a:rPr lang="fr-FR" b="1" dirty="0"/>
              <a:t>*99</a:t>
            </a:r>
            <a:r>
              <a:rPr lang="fr-FR" dirty="0"/>
              <a:t> toujours sur le même poste et recommencer l’enregistrement sinon. </a:t>
            </a:r>
          </a:p>
          <a:p>
            <a:r>
              <a:rPr lang="fr-FR" dirty="0"/>
              <a:t>Une fois l’enregistrement terminé, on retourne dans le serveur et dans l’onglet </a:t>
            </a:r>
            <a:r>
              <a:rPr lang="fr-FR" b="1" dirty="0"/>
              <a:t>système recording</a:t>
            </a:r>
            <a:r>
              <a:rPr lang="fr-FR" dirty="0"/>
              <a:t> on renseigne l’extension sur laquelle l’enregistrement a été fait, puis on nomme le fichier (</a:t>
            </a:r>
            <a:r>
              <a:rPr lang="fr-FR" b="1" dirty="0"/>
              <a:t>message_standart</a:t>
            </a:r>
            <a:r>
              <a:rPr lang="fr-FR" dirty="0"/>
              <a:t> dans notre cas) et on enregistre. Vérifiez que l'enregistrement apparaît dans la liste des enregistrements.</a:t>
            </a:r>
            <a:endParaRPr lang="en-US" dirty="0"/>
          </a:p>
          <a:p>
            <a:pPr lvl="0"/>
            <a:endParaRPr lang="en-US" dirty="0"/>
          </a:p>
        </p:txBody>
      </p:sp>
      <p:pic>
        <p:nvPicPr>
          <p:cNvPr id="9" name="Picture 22"/>
          <p:cNvPicPr/>
          <p:nvPr/>
        </p:nvPicPr>
        <p:blipFill>
          <a:blip r:embed="rId2">
            <a:extLst>
              <a:ext uri="{28A0092B-C50C-407E-A947-70E740481C1C}">
                <a14:useLocalDpi xmlns:a14="http://schemas.microsoft.com/office/drawing/2010/main" val="0"/>
              </a:ext>
            </a:extLst>
          </a:blip>
          <a:stretch>
            <a:fillRect/>
          </a:stretch>
        </p:blipFill>
        <p:spPr>
          <a:xfrm>
            <a:off x="6941477" y="968990"/>
            <a:ext cx="4768302" cy="2797792"/>
          </a:xfrm>
          <a:prstGeom prst="rect">
            <a:avLst/>
          </a:prstGeom>
        </p:spPr>
      </p:pic>
      <p:sp>
        <p:nvSpPr>
          <p:cNvPr id="12" name="ZoneTexte 11"/>
          <p:cNvSpPr txBox="1"/>
          <p:nvPr/>
        </p:nvSpPr>
        <p:spPr>
          <a:xfrm>
            <a:off x="-2" y="5339137"/>
            <a:ext cx="5349922" cy="1477328"/>
          </a:xfrm>
          <a:prstGeom prst="rect">
            <a:avLst/>
          </a:prstGeom>
          <a:noFill/>
        </p:spPr>
        <p:txBody>
          <a:bodyPr wrap="square" rtlCol="0">
            <a:spAutoFit/>
          </a:bodyPr>
          <a:lstStyle/>
          <a:p>
            <a:pPr marL="285750" indent="-285750">
              <a:buFont typeface="Wingdings" panose="05000000000000000000" pitchFamily="2" charset="2"/>
              <a:buChar char="q"/>
            </a:pPr>
            <a:r>
              <a:rPr lang="fr-FR" b="1" dirty="0"/>
              <a:t>L’enregistrement avec un logiciel audio : </a:t>
            </a:r>
          </a:p>
          <a:p>
            <a:r>
              <a:rPr lang="fr-FR" dirty="0"/>
              <a:t> nous avons utilisé le logiciel </a:t>
            </a:r>
            <a:r>
              <a:rPr lang="fr-FR" b="1" dirty="0"/>
              <a:t>TextToWav</a:t>
            </a:r>
            <a:r>
              <a:rPr lang="fr-FR" dirty="0"/>
              <a:t>. Ici nous avons entrer le message texte à enregistrer dans la zone de saisi du logiciel, puis nous l’avons converti en </a:t>
            </a:r>
            <a:r>
              <a:rPr lang="fr-FR" b="1" dirty="0"/>
              <a:t>audio </a:t>
            </a:r>
            <a:r>
              <a:rPr lang="fr-FR" dirty="0"/>
              <a:t>et exporté</a:t>
            </a:r>
            <a:r>
              <a:rPr lang="fr-FR" b="1" dirty="0"/>
              <a:t> </a:t>
            </a:r>
            <a:r>
              <a:rPr lang="fr-FR" dirty="0"/>
              <a:t>au format</a:t>
            </a:r>
            <a:r>
              <a:rPr lang="fr-FR" b="1" dirty="0"/>
              <a:t> Wav 16-bit, 8 kHz</a:t>
            </a:r>
            <a:endParaRPr lang="en-US" dirty="0"/>
          </a:p>
        </p:txBody>
      </p:sp>
      <p:pic>
        <p:nvPicPr>
          <p:cNvPr id="14" name="Picture 34"/>
          <p:cNvPicPr/>
          <p:nvPr/>
        </p:nvPicPr>
        <p:blipFill>
          <a:blip r:embed="rId3">
            <a:extLst>
              <a:ext uri="{28A0092B-C50C-407E-A947-70E740481C1C}">
                <a14:useLocalDpi xmlns:a14="http://schemas.microsoft.com/office/drawing/2010/main" val="0"/>
              </a:ext>
            </a:extLst>
          </a:blip>
          <a:stretch>
            <a:fillRect/>
          </a:stretch>
        </p:blipFill>
        <p:spPr>
          <a:xfrm>
            <a:off x="7367383" y="4041876"/>
            <a:ext cx="4342396" cy="2774589"/>
          </a:xfrm>
          <a:prstGeom prst="rect">
            <a:avLst/>
          </a:prstGeom>
        </p:spPr>
      </p:pic>
      <p:sp>
        <p:nvSpPr>
          <p:cNvPr id="10" name="Text 0">
            <a:extLst>
              <a:ext uri="{FF2B5EF4-FFF2-40B4-BE49-F238E27FC236}">
                <a16:creationId xmlns:a16="http://schemas.microsoft.com/office/drawing/2014/main" id="{FE684687-E78B-48B1-A079-C8861C5A3928}"/>
              </a:ext>
            </a:extLst>
          </p:cNvPr>
          <p:cNvSpPr/>
          <p:nvPr/>
        </p:nvSpPr>
        <p:spPr>
          <a:xfrm>
            <a:off x="179880" y="0"/>
            <a:ext cx="8107454" cy="693896"/>
          </a:xfrm>
          <a:prstGeom prst="rect">
            <a:avLst/>
          </a:prstGeom>
          <a:noFill/>
          <a:ln/>
        </p:spPr>
        <p:txBody>
          <a:bodyPr wrap="none" lIns="0" tIns="0" rIns="0" bIns="0" rtlCol="0" anchor="t"/>
          <a:lstStyle/>
          <a:p>
            <a:pPr marL="857250" indent="-857250" algn="l">
              <a:lnSpc>
                <a:spcPts val="5450"/>
              </a:lnSpc>
              <a:buFont typeface="+mj-lt"/>
              <a:buAutoNum type="romanUcPeriod" startAt="7"/>
            </a:pPr>
            <a:r>
              <a:rPr lang="en-US" sz="4350" dirty="0">
                <a:solidFill>
                  <a:srgbClr val="152D47"/>
                </a:solidFill>
                <a:latin typeface="Crimson Pro Semi Bold" pitchFamily="34" charset="0"/>
                <a:ea typeface="Crimson Pro Semi Bold" pitchFamily="34" charset="-122"/>
                <a:cs typeface="Crimson Pro Semi Bold" pitchFamily="34" charset="-120"/>
              </a:rPr>
              <a:t>Serveur Vocal Interactif (IVR)</a:t>
            </a:r>
            <a:endParaRPr lang="en-US" sz="4350" dirty="0"/>
          </a:p>
        </p:txBody>
      </p:sp>
    </p:spTree>
    <p:extLst>
      <p:ext uri="{BB962C8B-B14F-4D97-AF65-F5344CB8AC3E}">
        <p14:creationId xmlns:p14="http://schemas.microsoft.com/office/powerpoint/2010/main" val="133473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0" y="0"/>
            <a:ext cx="11559654" cy="693896"/>
          </a:xfrm>
          <a:prstGeom prst="rect">
            <a:avLst/>
          </a:prstGeom>
          <a:noFill/>
          <a:ln/>
        </p:spPr>
        <p:txBody>
          <a:bodyPr wrap="none" lIns="0" tIns="0" rIns="0" bIns="0" rtlCol="0" anchor="t"/>
          <a:lstStyle/>
          <a:p>
            <a:pPr algn="l">
              <a:lnSpc>
                <a:spcPts val="5450"/>
              </a:lnSpc>
            </a:pPr>
            <a:r>
              <a:rPr lang="en-US" sz="4350" dirty="0">
                <a:solidFill>
                  <a:srgbClr val="152D47"/>
                </a:solidFill>
                <a:latin typeface="Crimson Pro Semi Bold" pitchFamily="34" charset="0"/>
                <a:ea typeface="Crimson Pro Semi Bold" pitchFamily="34" charset="-122"/>
                <a:cs typeface="Crimson Pro Semi Bold" pitchFamily="34" charset="-120"/>
              </a:rPr>
              <a:t>Configuration du serveur Vocal Interactif (IVR)</a:t>
            </a:r>
            <a:endParaRPr lang="en-US" sz="4350" dirty="0"/>
          </a:p>
        </p:txBody>
      </p:sp>
      <p:sp>
        <p:nvSpPr>
          <p:cNvPr id="8" name="ZoneTexte 7"/>
          <p:cNvSpPr txBox="1"/>
          <p:nvPr/>
        </p:nvSpPr>
        <p:spPr>
          <a:xfrm>
            <a:off x="109182" y="1403579"/>
            <a:ext cx="9280477" cy="5355312"/>
          </a:xfrm>
          <a:prstGeom prst="rect">
            <a:avLst/>
          </a:prstGeom>
          <a:noFill/>
        </p:spPr>
        <p:txBody>
          <a:bodyPr wrap="square" rtlCol="0">
            <a:spAutoFit/>
          </a:bodyPr>
          <a:lstStyle/>
          <a:p>
            <a:pPr marL="342900" lvl="0" indent="-342900">
              <a:buFont typeface="Wingdings" panose="05000000000000000000" pitchFamily="2" charset="2"/>
              <a:buChar char="q"/>
            </a:pPr>
            <a:r>
              <a:rPr lang="fr-FR" sz="2000" b="1" dirty="0"/>
              <a:t>Paramétrage du menu vocal interactif</a:t>
            </a:r>
            <a:endParaRPr lang="en-US" sz="2000" dirty="0"/>
          </a:p>
          <a:p>
            <a:r>
              <a:rPr lang="fr-FR" dirty="0"/>
              <a:t> Configurer le standard automatique (IVR_standard) :</a:t>
            </a:r>
            <a:endParaRPr lang="en-US" sz="1400" dirty="0"/>
          </a:p>
          <a:p>
            <a:pPr lvl="0"/>
            <a:r>
              <a:rPr lang="fr-CM" dirty="0"/>
              <a:t>Retrouver l'onglet de configuration de l'IVR :</a:t>
            </a:r>
            <a:endParaRPr lang="en-US" sz="1400" dirty="0"/>
          </a:p>
          <a:p>
            <a:pPr lvl="0"/>
            <a:r>
              <a:rPr lang="fr-CM" dirty="0"/>
              <a:t>Allez dans PBX &gt; PBX Configuration &gt; IVR.</a:t>
            </a:r>
            <a:endParaRPr lang="en-US" sz="1400" dirty="0"/>
          </a:p>
          <a:p>
            <a:pPr lvl="0"/>
            <a:r>
              <a:rPr lang="fr-CM" dirty="0"/>
              <a:t>Cliquez sur Add IVR.</a:t>
            </a:r>
            <a:endParaRPr lang="en-US" sz="1400" dirty="0"/>
          </a:p>
          <a:p>
            <a:pPr lvl="0"/>
            <a:r>
              <a:rPr lang="fr-CM" dirty="0"/>
              <a:t>Nommez l'IVR (par exemple, IVR_standard).</a:t>
            </a:r>
            <a:endParaRPr lang="en-US" sz="1400" dirty="0"/>
          </a:p>
          <a:p>
            <a:pPr lvl="0"/>
            <a:r>
              <a:rPr lang="fr-CM" dirty="0"/>
              <a:t>Associez le message vocal message_standard.</a:t>
            </a:r>
            <a:endParaRPr lang="en-US" sz="1400" dirty="0"/>
          </a:p>
          <a:p>
            <a:pPr lvl="0"/>
            <a:r>
              <a:rPr lang="fr-CM" dirty="0"/>
              <a:t>Ajoutez 7 options correspondant aux choix du message :</a:t>
            </a:r>
            <a:endParaRPr lang="en-US" sz="1400" dirty="0"/>
          </a:p>
          <a:p>
            <a:pPr lvl="2"/>
            <a:r>
              <a:rPr lang="fr-CM" b="1" dirty="0"/>
              <a:t>Option 1</a:t>
            </a:r>
            <a:r>
              <a:rPr lang="fr-CM" dirty="0"/>
              <a:t> : Direction (par exemple, extension 2010).</a:t>
            </a:r>
            <a:endParaRPr lang="en-US" sz="1400" dirty="0"/>
          </a:p>
          <a:p>
            <a:pPr lvl="2"/>
            <a:r>
              <a:rPr lang="fr-CM" b="1" dirty="0"/>
              <a:t>Option 2</a:t>
            </a:r>
            <a:r>
              <a:rPr lang="fr-CM" dirty="0"/>
              <a:t> : Département GTR (par exemple, extension 2020).</a:t>
            </a:r>
            <a:endParaRPr lang="en-US" sz="1400" dirty="0"/>
          </a:p>
          <a:p>
            <a:pPr lvl="2"/>
            <a:r>
              <a:rPr lang="fr-CM" b="1" dirty="0"/>
              <a:t>Option 3</a:t>
            </a:r>
            <a:r>
              <a:rPr lang="fr-CM" dirty="0"/>
              <a:t> : Département GE (par exemple, extension 2030).</a:t>
            </a:r>
            <a:endParaRPr lang="en-US" sz="1400" dirty="0"/>
          </a:p>
          <a:p>
            <a:pPr lvl="2"/>
            <a:r>
              <a:rPr lang="fr-CM" b="1" dirty="0"/>
              <a:t>Option 4</a:t>
            </a:r>
            <a:r>
              <a:rPr lang="fr-CM" dirty="0"/>
              <a:t> : Département GI (par exemple, extension 2040).</a:t>
            </a:r>
            <a:endParaRPr lang="en-US" sz="1400" dirty="0"/>
          </a:p>
          <a:p>
            <a:pPr lvl="2"/>
            <a:r>
              <a:rPr lang="fr-CM" b="1" dirty="0"/>
              <a:t>Option 5</a:t>
            </a:r>
            <a:r>
              <a:rPr lang="fr-CM" dirty="0"/>
              <a:t> : Département MIP (par exemple, extension 2050).</a:t>
            </a:r>
            <a:endParaRPr lang="en-US" sz="1400" dirty="0"/>
          </a:p>
          <a:p>
            <a:pPr lvl="2"/>
            <a:r>
              <a:rPr lang="fr-CM" b="1" dirty="0"/>
              <a:t>Option 6</a:t>
            </a:r>
            <a:r>
              <a:rPr lang="fr-CM" dirty="0"/>
              <a:t> : Autres renseignements (par exemple, extension 2060).</a:t>
            </a:r>
            <a:endParaRPr lang="en-US" sz="1400" dirty="0"/>
          </a:p>
          <a:p>
            <a:pPr lvl="2"/>
            <a:r>
              <a:rPr lang="fr-CM" b="1" dirty="0"/>
              <a:t>Option 0</a:t>
            </a:r>
            <a:r>
              <a:rPr lang="fr-CM" dirty="0"/>
              <a:t> : Quitter (par exemple, raccrocher).</a:t>
            </a:r>
            <a:endParaRPr lang="en-US" sz="1400" dirty="0"/>
          </a:p>
          <a:p>
            <a:pPr lvl="0"/>
            <a:r>
              <a:rPr lang="fr-CM" dirty="0"/>
              <a:t>Créer une extension pour le standard :</a:t>
            </a:r>
            <a:endParaRPr lang="en-US" sz="1400" dirty="0"/>
          </a:p>
          <a:p>
            <a:pPr lvl="0"/>
            <a:r>
              <a:rPr lang="fr-CM" dirty="0"/>
              <a:t>Créez une nouvelle extension qui n’est attribuée à aucun softphone (par exemple, </a:t>
            </a:r>
            <a:r>
              <a:rPr lang="fr-CM" b="1" dirty="0"/>
              <a:t>933</a:t>
            </a:r>
            <a:r>
              <a:rPr lang="fr-CM" dirty="0"/>
              <a:t>).</a:t>
            </a:r>
            <a:endParaRPr lang="en-US" sz="1400" dirty="0"/>
          </a:p>
          <a:p>
            <a:pPr lvl="0"/>
            <a:r>
              <a:rPr lang="fr-CM" dirty="0"/>
              <a:t>Dans l'onglet </a:t>
            </a:r>
            <a:r>
              <a:rPr lang="fr-CM" b="1" dirty="0"/>
              <a:t>General</a:t>
            </a:r>
            <a:r>
              <a:rPr lang="fr-CM" dirty="0"/>
              <a:t>, configurez le champ </a:t>
            </a:r>
            <a:r>
              <a:rPr lang="fr-CM" b="1" dirty="0"/>
              <a:t>Not Reachable</a:t>
            </a:r>
            <a:r>
              <a:rPr lang="fr-CM" dirty="0"/>
              <a:t> pour rediriger vers </a:t>
            </a:r>
            <a:r>
              <a:rPr lang="fr-CM" b="1" i="1" dirty="0"/>
              <a:t>l'IVR IVR_standard</a:t>
            </a:r>
            <a:r>
              <a:rPr lang="fr-CM" dirty="0"/>
              <a:t>.</a:t>
            </a:r>
            <a:endParaRPr lang="en-US" sz="1400" dirty="0"/>
          </a:p>
          <a:p>
            <a:pPr lvl="0"/>
            <a:r>
              <a:rPr lang="fr-CM" dirty="0"/>
              <a:t>Faire de même avec une autre extension pour l’</a:t>
            </a:r>
            <a:r>
              <a:rPr lang="fr-CM" dirty="0" err="1"/>
              <a:t>IVR_audiotex</a:t>
            </a:r>
            <a:r>
              <a:rPr lang="fr-CM" dirty="0"/>
              <a:t>.</a:t>
            </a:r>
            <a:endParaRPr lang="en-US" sz="1400" dirty="0"/>
          </a:p>
        </p:txBody>
      </p:sp>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2853" y="832512"/>
            <a:ext cx="5413612" cy="4060209"/>
          </a:xfrm>
          <a:prstGeom prst="rect">
            <a:avLst/>
          </a:prstGeom>
        </p:spPr>
      </p:pic>
    </p:spTree>
    <p:extLst>
      <p:ext uri="{BB962C8B-B14F-4D97-AF65-F5344CB8AC3E}">
        <p14:creationId xmlns:p14="http://schemas.microsoft.com/office/powerpoint/2010/main" val="1424827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109182" y="1288086"/>
            <a:ext cx="11973636" cy="5601533"/>
          </a:xfrm>
          <a:prstGeom prst="rect">
            <a:avLst/>
          </a:prstGeom>
          <a:noFill/>
        </p:spPr>
        <p:txBody>
          <a:bodyPr wrap="square" rtlCol="0">
            <a:spAutoFit/>
          </a:bodyPr>
          <a:lstStyle/>
          <a:p>
            <a:pPr marL="342900" lvl="0" indent="-342900">
              <a:buFont typeface="Wingdings" panose="05000000000000000000" pitchFamily="2" charset="2"/>
              <a:buChar char="q"/>
            </a:pPr>
            <a:r>
              <a:rPr lang="en-US" sz="2000" b="1" dirty="0"/>
              <a:t>IVR_standard</a:t>
            </a:r>
          </a:p>
          <a:p>
            <a:pPr lvl="0" algn="just"/>
            <a:r>
              <a:rPr lang="fr-FR" sz="2000" b="1" dirty="0"/>
              <a:t>Junior</a:t>
            </a:r>
            <a:r>
              <a:rPr lang="fr-FR" sz="2000" dirty="0"/>
              <a:t> d’</a:t>
            </a:r>
            <a:r>
              <a:rPr lang="en-US" sz="2000" dirty="0"/>
              <a:t>extension 931 appelle le </a:t>
            </a:r>
            <a:r>
              <a:rPr lang="en-US" sz="2000" b="1" dirty="0"/>
              <a:t>933</a:t>
            </a:r>
            <a:r>
              <a:rPr lang="en-US" sz="2000" dirty="0"/>
              <a:t> qui est un compte injoignable dirigé vers IVR_standard. Une fois l’qppel lancé, un message est déclenché invitant l’utilisateur à faire une option pour atteindre une destination </a:t>
            </a:r>
          </a:p>
          <a:p>
            <a:pPr lvl="2"/>
            <a:endParaRPr lang="fr-CM" b="1" dirty="0"/>
          </a:p>
          <a:p>
            <a:pPr lvl="2"/>
            <a:r>
              <a:rPr lang="fr-CM" sz="2000" b="1" dirty="0"/>
              <a:t>Option 1</a:t>
            </a:r>
            <a:r>
              <a:rPr lang="fr-CM" sz="2000" dirty="0"/>
              <a:t> : pour la Direction vers </a:t>
            </a:r>
            <a:r>
              <a:rPr lang="fr-CM" sz="2000" b="1" dirty="0"/>
              <a:t>Prudencia1</a:t>
            </a:r>
            <a:r>
              <a:rPr lang="fr-CM" sz="2000" dirty="0"/>
              <a:t> d’extension </a:t>
            </a:r>
            <a:r>
              <a:rPr lang="fr-CM" sz="2000" b="1" dirty="0"/>
              <a:t>100</a:t>
            </a:r>
            <a:r>
              <a:rPr lang="fr-CM" sz="2000" dirty="0"/>
              <a:t>.</a:t>
            </a:r>
            <a:endParaRPr lang="en-US" sz="2000" dirty="0"/>
          </a:p>
          <a:p>
            <a:pPr lvl="2"/>
            <a:r>
              <a:rPr lang="fr-CM" sz="2000" b="1" dirty="0"/>
              <a:t>Option 2</a:t>
            </a:r>
            <a:r>
              <a:rPr lang="fr-CM" sz="2000" dirty="0"/>
              <a:t> : pour le Département GTR vers </a:t>
            </a:r>
            <a:r>
              <a:rPr lang="fr-CM" sz="2000" b="1" dirty="0"/>
              <a:t>Quentin</a:t>
            </a:r>
            <a:r>
              <a:rPr lang="fr-CM" sz="2000" dirty="0"/>
              <a:t> d’extension </a:t>
            </a:r>
            <a:r>
              <a:rPr lang="fr-CM" sz="2000" b="1" dirty="0"/>
              <a:t>101</a:t>
            </a:r>
            <a:r>
              <a:rPr lang="fr-CM" sz="2000" dirty="0"/>
              <a:t>.</a:t>
            </a:r>
            <a:endParaRPr lang="en-US" sz="2000" dirty="0"/>
          </a:p>
          <a:p>
            <a:pPr lvl="2"/>
            <a:r>
              <a:rPr lang="fr-CM" sz="2000" b="1" dirty="0"/>
              <a:t>Option 3</a:t>
            </a:r>
            <a:r>
              <a:rPr lang="fr-CM" sz="2000" dirty="0"/>
              <a:t> : pour le Département vers </a:t>
            </a:r>
            <a:r>
              <a:rPr lang="fr-CM" sz="2000" b="1" dirty="0"/>
              <a:t>Prudencia2</a:t>
            </a:r>
            <a:r>
              <a:rPr lang="fr-CM" sz="2000" dirty="0"/>
              <a:t> d’extension </a:t>
            </a:r>
            <a:r>
              <a:rPr lang="fr-CM" sz="2000" b="1" dirty="0"/>
              <a:t>105.</a:t>
            </a:r>
            <a:endParaRPr lang="en-US" sz="2000" dirty="0"/>
          </a:p>
          <a:p>
            <a:pPr lvl="2"/>
            <a:r>
              <a:rPr lang="fr-CM" sz="2000" b="1" dirty="0"/>
              <a:t>Option 4</a:t>
            </a:r>
            <a:r>
              <a:rPr lang="fr-CM" sz="2000" dirty="0"/>
              <a:t> : pour le  Département GI vers </a:t>
            </a:r>
            <a:r>
              <a:rPr lang="fr-CM" sz="2000" b="1" dirty="0"/>
              <a:t>Horlan1</a:t>
            </a:r>
            <a:r>
              <a:rPr lang="fr-CM" sz="2000" dirty="0"/>
              <a:t> d’extension </a:t>
            </a:r>
            <a:r>
              <a:rPr lang="fr-CM" sz="2000" b="1" dirty="0"/>
              <a:t>103</a:t>
            </a:r>
            <a:r>
              <a:rPr lang="fr-CM" sz="2000" dirty="0"/>
              <a:t>.</a:t>
            </a:r>
            <a:endParaRPr lang="en-US" sz="2000" dirty="0"/>
          </a:p>
          <a:p>
            <a:pPr lvl="2"/>
            <a:r>
              <a:rPr lang="fr-CM" sz="2000" b="1" dirty="0"/>
              <a:t>Option 5</a:t>
            </a:r>
            <a:r>
              <a:rPr lang="fr-CM" sz="2000" dirty="0"/>
              <a:t> : pour le Département MIP vers </a:t>
            </a:r>
            <a:r>
              <a:rPr lang="fr-CM" sz="2000" b="1" dirty="0"/>
              <a:t>Horlan2 </a:t>
            </a:r>
            <a:r>
              <a:rPr lang="fr-CM" sz="2000" dirty="0"/>
              <a:t>d’extension </a:t>
            </a:r>
            <a:r>
              <a:rPr lang="fr-CM" sz="2000" b="1" dirty="0"/>
              <a:t>104.</a:t>
            </a:r>
            <a:endParaRPr lang="en-US" sz="2000" dirty="0"/>
          </a:p>
          <a:p>
            <a:pPr lvl="2"/>
            <a:r>
              <a:rPr lang="fr-CM" sz="2000" b="1" dirty="0"/>
              <a:t>Option 6</a:t>
            </a:r>
            <a:r>
              <a:rPr lang="fr-CM" sz="2000" dirty="0"/>
              <a:t> : Autres renseignements vers </a:t>
            </a:r>
            <a:r>
              <a:rPr lang="fr-CM" sz="2000" b="1" dirty="0"/>
              <a:t>Junior</a:t>
            </a:r>
            <a:r>
              <a:rPr lang="fr-CM" sz="2000" dirty="0"/>
              <a:t> d’extension </a:t>
            </a:r>
            <a:r>
              <a:rPr lang="fr-CM" sz="2000" b="1" dirty="0"/>
              <a:t>107</a:t>
            </a:r>
            <a:r>
              <a:rPr lang="fr-CM" sz="2000" dirty="0"/>
              <a:t>.</a:t>
            </a:r>
            <a:endParaRPr lang="en-US" sz="2000" dirty="0"/>
          </a:p>
          <a:p>
            <a:pPr lvl="2"/>
            <a:r>
              <a:rPr lang="fr-CM" sz="2000" b="1" dirty="0"/>
              <a:t>Option 0</a:t>
            </a:r>
            <a:r>
              <a:rPr lang="fr-CM" sz="2000" dirty="0"/>
              <a:t> : Quitter pour </a:t>
            </a:r>
            <a:r>
              <a:rPr lang="fr-CM" sz="2000" b="1" dirty="0"/>
              <a:t>raccrocher</a:t>
            </a:r>
            <a:r>
              <a:rPr lang="fr-CM" sz="2000" dirty="0"/>
              <a:t>.</a:t>
            </a:r>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en-US" sz="1400" dirty="0"/>
          </a:p>
        </p:txBody>
      </p:sp>
      <p:sp>
        <p:nvSpPr>
          <p:cNvPr id="5" name="Text 0">
            <a:extLst>
              <a:ext uri="{FF2B5EF4-FFF2-40B4-BE49-F238E27FC236}">
                <a16:creationId xmlns:a16="http://schemas.microsoft.com/office/drawing/2014/main" id="{131EC88A-921C-4177-BCD8-B2963E59F375}"/>
              </a:ext>
            </a:extLst>
          </p:cNvPr>
          <p:cNvSpPr/>
          <p:nvPr/>
        </p:nvSpPr>
        <p:spPr>
          <a:xfrm>
            <a:off x="0" y="0"/>
            <a:ext cx="8107454" cy="693896"/>
          </a:xfrm>
          <a:prstGeom prst="rect">
            <a:avLst/>
          </a:prstGeom>
          <a:noFill/>
          <a:ln/>
        </p:spPr>
        <p:txBody>
          <a:bodyPr wrap="none" lIns="0" tIns="0" rIns="0" bIns="0" rtlCol="0" anchor="t"/>
          <a:lstStyle/>
          <a:p>
            <a:pPr marL="857250" indent="-857250" algn="l">
              <a:lnSpc>
                <a:spcPts val="5450"/>
              </a:lnSpc>
              <a:buFont typeface="+mj-lt"/>
              <a:buAutoNum type="romanUcPeriod" startAt="7"/>
            </a:pPr>
            <a:r>
              <a:rPr lang="en-US" sz="4350" dirty="0">
                <a:solidFill>
                  <a:srgbClr val="152D47"/>
                </a:solidFill>
                <a:latin typeface="Crimson Pro Semi Bold" pitchFamily="34" charset="0"/>
                <a:ea typeface="Crimson Pro Semi Bold" pitchFamily="34" charset="-122"/>
                <a:cs typeface="Crimson Pro Semi Bold" pitchFamily="34" charset="-120"/>
              </a:rPr>
              <a:t>Serveur Vocal Interactif (IVR)</a:t>
            </a:r>
            <a:endParaRPr lang="en-US" sz="4350" dirty="0"/>
          </a:p>
        </p:txBody>
      </p:sp>
      <p:sp>
        <p:nvSpPr>
          <p:cNvPr id="6" name="Text 0">
            <a:extLst>
              <a:ext uri="{FF2B5EF4-FFF2-40B4-BE49-F238E27FC236}">
                <a16:creationId xmlns:a16="http://schemas.microsoft.com/office/drawing/2014/main" id="{CCECA10C-3B46-4C40-A428-10962E86E721}"/>
              </a:ext>
            </a:extLst>
          </p:cNvPr>
          <p:cNvSpPr/>
          <p:nvPr/>
        </p:nvSpPr>
        <p:spPr>
          <a:xfrm>
            <a:off x="109182" y="594190"/>
            <a:ext cx="2259264" cy="693896"/>
          </a:xfrm>
          <a:prstGeom prst="rect">
            <a:avLst/>
          </a:prstGeom>
          <a:noFill/>
          <a:ln/>
        </p:spPr>
        <p:txBody>
          <a:bodyPr wrap="none" lIns="0" tIns="0" rIns="0" bIns="0" rtlCol="0" anchor="t"/>
          <a:lstStyle/>
          <a:p>
            <a:pPr algn="l">
              <a:lnSpc>
                <a:spcPts val="5450"/>
              </a:lnSpc>
            </a:pPr>
            <a:r>
              <a:rPr lang="en-US" sz="4350" dirty="0">
                <a:solidFill>
                  <a:srgbClr val="152D47"/>
                </a:solidFill>
                <a:latin typeface="Crimson Pro Semi Bold" pitchFamily="34" charset="0"/>
                <a:ea typeface="Crimson Pro Semi Bold" pitchFamily="34" charset="-122"/>
              </a:rPr>
              <a:t>Scenario:</a:t>
            </a:r>
            <a:endParaRPr lang="en-US" sz="4350" dirty="0"/>
          </a:p>
        </p:txBody>
      </p:sp>
    </p:spTree>
    <p:extLst>
      <p:ext uri="{BB962C8B-B14F-4D97-AF65-F5344CB8AC3E}">
        <p14:creationId xmlns:p14="http://schemas.microsoft.com/office/powerpoint/2010/main" val="2903147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109182" y="1288086"/>
            <a:ext cx="11733048" cy="4678204"/>
          </a:xfrm>
          <a:prstGeom prst="rect">
            <a:avLst/>
          </a:prstGeom>
          <a:noFill/>
        </p:spPr>
        <p:txBody>
          <a:bodyPr wrap="square" rtlCol="0">
            <a:spAutoFit/>
          </a:bodyPr>
          <a:lstStyle/>
          <a:p>
            <a:pPr marL="342900" lvl="0" indent="-342900">
              <a:buFont typeface="Wingdings" panose="05000000000000000000" pitchFamily="2" charset="2"/>
              <a:buChar char="q"/>
            </a:pPr>
            <a:r>
              <a:rPr lang="en-US" sz="2000" b="1" dirty="0"/>
              <a:t>IVR_audiotex</a:t>
            </a:r>
          </a:p>
          <a:p>
            <a:pPr lvl="0" algn="just"/>
            <a:r>
              <a:rPr lang="fr-FR" sz="2000" b="1" dirty="0"/>
              <a:t>Junior</a:t>
            </a:r>
            <a:r>
              <a:rPr lang="fr-FR" sz="2000" dirty="0"/>
              <a:t> d’</a:t>
            </a:r>
            <a:r>
              <a:rPr lang="en-US" sz="2000" dirty="0"/>
              <a:t>extension </a:t>
            </a:r>
            <a:r>
              <a:rPr lang="en-US" sz="2000" b="1" dirty="0"/>
              <a:t>931</a:t>
            </a:r>
            <a:r>
              <a:rPr lang="en-US" sz="2000" dirty="0"/>
              <a:t> appelle le </a:t>
            </a:r>
            <a:r>
              <a:rPr lang="en-US" sz="2000" b="1" dirty="0"/>
              <a:t>932</a:t>
            </a:r>
            <a:r>
              <a:rPr lang="en-US" sz="2000" dirty="0"/>
              <a:t> qui est un compte injoignable dirigé vers IVR_standard. Une fois l’qppel lancé, un message est déclenché invitant l’utilisateur à faire une option pour atteindre une destination </a:t>
            </a:r>
          </a:p>
          <a:p>
            <a:pPr lvl="2"/>
            <a:endParaRPr lang="fr-CM" b="1" dirty="0"/>
          </a:p>
          <a:p>
            <a:pPr lvl="2"/>
            <a:r>
              <a:rPr lang="fr-CM" sz="2000" b="1" dirty="0"/>
              <a:t>Option 1</a:t>
            </a:r>
            <a:r>
              <a:rPr lang="fr-CM" sz="2000" dirty="0"/>
              <a:t> : </a:t>
            </a:r>
            <a:r>
              <a:rPr lang="fr-FR" sz="2000" dirty="0"/>
              <a:t>Pour les informations sur nos formation</a:t>
            </a:r>
            <a:r>
              <a:rPr lang="fr-CM" sz="2000" dirty="0"/>
              <a:t> vers </a:t>
            </a:r>
            <a:r>
              <a:rPr lang="fr-CM" sz="2000" b="1" dirty="0"/>
              <a:t>Prudencia1</a:t>
            </a:r>
            <a:r>
              <a:rPr lang="fr-CM" sz="2000" dirty="0"/>
              <a:t> d’extension </a:t>
            </a:r>
            <a:r>
              <a:rPr lang="fr-CM" sz="2000" b="1" dirty="0"/>
              <a:t>100</a:t>
            </a:r>
            <a:r>
              <a:rPr lang="fr-CM" sz="2000" dirty="0"/>
              <a:t>.</a:t>
            </a:r>
            <a:endParaRPr lang="en-US" sz="2000" dirty="0"/>
          </a:p>
          <a:p>
            <a:pPr lvl="2"/>
            <a:r>
              <a:rPr lang="fr-CM" sz="2000" b="1" dirty="0"/>
              <a:t>Option 2</a:t>
            </a:r>
            <a:r>
              <a:rPr lang="fr-CM" sz="2000" dirty="0"/>
              <a:t> : </a:t>
            </a:r>
            <a:r>
              <a:rPr lang="fr-FR" sz="2000" dirty="0"/>
              <a:t>pour les frais de scolarité </a:t>
            </a:r>
            <a:r>
              <a:rPr lang="fr-CM" sz="2000" dirty="0"/>
              <a:t>vers </a:t>
            </a:r>
            <a:r>
              <a:rPr lang="fr-CM" sz="2000" b="1" dirty="0"/>
              <a:t>Quentin</a:t>
            </a:r>
            <a:r>
              <a:rPr lang="fr-CM" sz="2000" dirty="0"/>
              <a:t> d’extension </a:t>
            </a:r>
            <a:r>
              <a:rPr lang="fr-CM" sz="2000" b="1" dirty="0"/>
              <a:t>101</a:t>
            </a:r>
            <a:r>
              <a:rPr lang="fr-CM" sz="2000" dirty="0"/>
              <a:t>.</a:t>
            </a:r>
            <a:endParaRPr lang="en-US" sz="2000" dirty="0"/>
          </a:p>
          <a:p>
            <a:pPr lvl="2"/>
            <a:r>
              <a:rPr lang="fr-CM" sz="2000" b="1" dirty="0"/>
              <a:t>Option 3</a:t>
            </a:r>
            <a:r>
              <a:rPr lang="fr-CM" sz="2000" dirty="0"/>
              <a:t> : </a:t>
            </a:r>
            <a:r>
              <a:rPr lang="fr-FR" sz="2000" dirty="0"/>
              <a:t>pour parler à un responsable</a:t>
            </a:r>
            <a:r>
              <a:rPr lang="fr-CM" sz="2000" dirty="0"/>
              <a:t> vers </a:t>
            </a:r>
            <a:r>
              <a:rPr lang="fr-CM" sz="2000" b="1" dirty="0"/>
              <a:t>Horlan1</a:t>
            </a:r>
            <a:r>
              <a:rPr lang="fr-CM" sz="2000" dirty="0"/>
              <a:t> d’extension </a:t>
            </a:r>
            <a:r>
              <a:rPr lang="fr-CM" sz="2000" b="1" dirty="0"/>
              <a:t>103.</a:t>
            </a:r>
            <a:endParaRPr lang="en-US" sz="2000" dirty="0"/>
          </a:p>
          <a:p>
            <a:pPr lvl="2"/>
            <a:r>
              <a:rPr lang="fr-CM" sz="2000" b="1" dirty="0"/>
              <a:t>Option 0</a:t>
            </a:r>
            <a:r>
              <a:rPr lang="fr-CM" sz="2000" dirty="0"/>
              <a:t> : Quitter pour </a:t>
            </a:r>
            <a:r>
              <a:rPr lang="fr-CM" sz="2000" b="1" dirty="0"/>
              <a:t>raccrocher</a:t>
            </a:r>
            <a:r>
              <a:rPr lang="fr-CM" sz="2000" dirty="0"/>
              <a:t>.</a:t>
            </a:r>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fr-CM" sz="1400" dirty="0"/>
          </a:p>
          <a:p>
            <a:pPr lvl="2"/>
            <a:endParaRPr lang="en-US" sz="1400" dirty="0"/>
          </a:p>
        </p:txBody>
      </p:sp>
      <p:sp>
        <p:nvSpPr>
          <p:cNvPr id="5" name="Text 0">
            <a:extLst>
              <a:ext uri="{FF2B5EF4-FFF2-40B4-BE49-F238E27FC236}">
                <a16:creationId xmlns:a16="http://schemas.microsoft.com/office/drawing/2014/main" id="{131EC88A-921C-4177-BCD8-B2963E59F375}"/>
              </a:ext>
            </a:extLst>
          </p:cNvPr>
          <p:cNvSpPr/>
          <p:nvPr/>
        </p:nvSpPr>
        <p:spPr>
          <a:xfrm>
            <a:off x="0" y="0"/>
            <a:ext cx="8107454" cy="693896"/>
          </a:xfrm>
          <a:prstGeom prst="rect">
            <a:avLst/>
          </a:prstGeom>
          <a:noFill/>
          <a:ln/>
        </p:spPr>
        <p:txBody>
          <a:bodyPr wrap="none" lIns="0" tIns="0" rIns="0" bIns="0" rtlCol="0" anchor="t"/>
          <a:lstStyle/>
          <a:p>
            <a:pPr marL="857250" indent="-857250" algn="l">
              <a:lnSpc>
                <a:spcPts val="5450"/>
              </a:lnSpc>
              <a:buFont typeface="+mj-lt"/>
              <a:buAutoNum type="romanUcPeriod" startAt="7"/>
            </a:pPr>
            <a:r>
              <a:rPr lang="en-US" sz="4350" dirty="0">
                <a:solidFill>
                  <a:srgbClr val="152D47"/>
                </a:solidFill>
                <a:latin typeface="Crimson Pro Semi Bold" pitchFamily="34" charset="0"/>
                <a:ea typeface="Crimson Pro Semi Bold" pitchFamily="34" charset="-122"/>
                <a:cs typeface="Crimson Pro Semi Bold" pitchFamily="34" charset="-120"/>
              </a:rPr>
              <a:t>Serveur Vocal Interactif (IVR)</a:t>
            </a:r>
            <a:endParaRPr lang="en-US" sz="4350" dirty="0"/>
          </a:p>
        </p:txBody>
      </p:sp>
      <p:sp>
        <p:nvSpPr>
          <p:cNvPr id="6" name="Text 0">
            <a:extLst>
              <a:ext uri="{FF2B5EF4-FFF2-40B4-BE49-F238E27FC236}">
                <a16:creationId xmlns:a16="http://schemas.microsoft.com/office/drawing/2014/main" id="{CCECA10C-3B46-4C40-A428-10962E86E721}"/>
              </a:ext>
            </a:extLst>
          </p:cNvPr>
          <p:cNvSpPr/>
          <p:nvPr/>
        </p:nvSpPr>
        <p:spPr>
          <a:xfrm>
            <a:off x="109182" y="594190"/>
            <a:ext cx="2259264" cy="693896"/>
          </a:xfrm>
          <a:prstGeom prst="rect">
            <a:avLst/>
          </a:prstGeom>
          <a:noFill/>
          <a:ln/>
        </p:spPr>
        <p:txBody>
          <a:bodyPr wrap="none" lIns="0" tIns="0" rIns="0" bIns="0" rtlCol="0" anchor="t"/>
          <a:lstStyle/>
          <a:p>
            <a:pPr algn="l">
              <a:lnSpc>
                <a:spcPts val="5450"/>
              </a:lnSpc>
            </a:pPr>
            <a:r>
              <a:rPr lang="en-US" sz="4350" dirty="0">
                <a:solidFill>
                  <a:srgbClr val="152D47"/>
                </a:solidFill>
                <a:latin typeface="Crimson Pro Semi Bold" pitchFamily="34" charset="0"/>
                <a:ea typeface="Crimson Pro Semi Bold" pitchFamily="34" charset="-122"/>
              </a:rPr>
              <a:t>Scenario:</a:t>
            </a:r>
            <a:endParaRPr lang="en-US" sz="4350" dirty="0"/>
          </a:p>
        </p:txBody>
      </p:sp>
    </p:spTree>
    <p:extLst>
      <p:ext uri="{BB962C8B-B14F-4D97-AF65-F5344CB8AC3E}">
        <p14:creationId xmlns:p14="http://schemas.microsoft.com/office/powerpoint/2010/main" val="3717148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247879" y="160304"/>
            <a:ext cx="10902341" cy="708779"/>
          </a:xfrm>
          <a:prstGeom prst="rect">
            <a:avLst/>
          </a:prstGeom>
          <a:noFill/>
          <a:ln/>
        </p:spPr>
        <p:txBody>
          <a:bodyPr wrap="none" lIns="0" tIns="0" rIns="0" bIns="0" rtlCol="0" anchor="t"/>
          <a:lstStyle/>
          <a:p>
            <a:pPr marL="1028700" indent="-1028700" algn="l">
              <a:lnSpc>
                <a:spcPts val="5550"/>
              </a:lnSpc>
              <a:buFont typeface="+mj-lt"/>
              <a:buAutoNum type="romanUcPeriod" startAt="8"/>
            </a:pPr>
            <a:r>
              <a:rPr lang="en-US" sz="4450" dirty="0">
                <a:solidFill>
                  <a:srgbClr val="152D47"/>
                </a:solidFill>
                <a:latin typeface="Crimson Pro Semi Bold" pitchFamily="34" charset="0"/>
                <a:ea typeface="Crimson Pro Semi Bold" pitchFamily="34" charset="-122"/>
                <a:cs typeface="Crimson Pro Semi Bold" pitchFamily="34" charset="-120"/>
              </a:rPr>
              <a:t>Gestion des Horaires</a:t>
            </a:r>
            <a:endParaRPr lang="en-US" sz="4450" dirty="0"/>
          </a:p>
        </p:txBody>
      </p:sp>
      <p:sp>
        <p:nvSpPr>
          <p:cNvPr id="8" name="Text 1"/>
          <p:cNvSpPr/>
          <p:nvPr/>
        </p:nvSpPr>
        <p:spPr>
          <a:xfrm>
            <a:off x="550842" y="2420385"/>
            <a:ext cx="3365302" cy="354330"/>
          </a:xfrm>
          <a:prstGeom prst="rect">
            <a:avLst/>
          </a:prstGeom>
          <a:noFill/>
          <a:ln/>
        </p:spPr>
        <p:txBody>
          <a:bodyPr wrap="none" lIns="0" tIns="0" rIns="0" bIns="0" rtlCol="0" anchor="t"/>
          <a:lstStyle/>
          <a:p>
            <a:pPr marL="0" indent="0" algn="l">
              <a:lnSpc>
                <a:spcPts val="2750"/>
              </a:lnSpc>
              <a:buNone/>
            </a:pPr>
            <a:r>
              <a:rPr lang="en-US" sz="2200" dirty="0">
                <a:solidFill>
                  <a:srgbClr val="152D47"/>
                </a:solidFill>
                <a:latin typeface="Crimson Pro Semi Bold" pitchFamily="34" charset="0"/>
                <a:ea typeface="Crimson Pro Semi Bold" pitchFamily="34" charset="-122"/>
                <a:cs typeface="Crimson Pro Semi Bold" pitchFamily="34" charset="-120"/>
              </a:rPr>
              <a:t>Gestion des Horaires d'Appel</a:t>
            </a:r>
            <a:endParaRPr lang="en-US" sz="2200" dirty="0"/>
          </a:p>
        </p:txBody>
      </p:sp>
      <p:sp>
        <p:nvSpPr>
          <p:cNvPr id="9" name="Text 2"/>
          <p:cNvSpPr/>
          <p:nvPr/>
        </p:nvSpPr>
        <p:spPr>
          <a:xfrm>
            <a:off x="247880" y="3425844"/>
            <a:ext cx="5866318"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Permet de définir des règles pour le traitement des appels entrants en fonction de l'heure et du jour.</a:t>
            </a:r>
            <a:endParaRPr lang="en-US" sz="1750" b="1" dirty="0"/>
          </a:p>
        </p:txBody>
      </p:sp>
      <p:sp>
        <p:nvSpPr>
          <p:cNvPr id="10" name="Text 3"/>
          <p:cNvSpPr/>
          <p:nvPr/>
        </p:nvSpPr>
        <p:spPr>
          <a:xfrm>
            <a:off x="247879" y="4326017"/>
            <a:ext cx="5866320" cy="1451610"/>
          </a:xfrm>
          <a:prstGeom prst="rect">
            <a:avLst/>
          </a:prstGeom>
          <a:noFill/>
          <a:ln/>
        </p:spPr>
        <p:txBody>
          <a:bodyPr wrap="square" lIns="0" tIns="0" rIns="0" bIns="0" rtlCol="0" anchor="t"/>
          <a:lstStyle/>
          <a:p>
            <a:pPr marL="0" indent="0" algn="l">
              <a:lnSpc>
                <a:spcPts val="2850"/>
              </a:lnSpc>
              <a:buNone/>
            </a:pPr>
            <a:r>
              <a:rPr lang="en-US" sz="1750" b="1" dirty="0">
                <a:solidFill>
                  <a:srgbClr val="4C4C4D"/>
                </a:solidFill>
                <a:latin typeface="Heebo" pitchFamily="34" charset="0"/>
                <a:ea typeface="Heebo" pitchFamily="34" charset="-122"/>
                <a:cs typeface="Heebo" pitchFamily="34" charset="-120"/>
              </a:rPr>
              <a:t>Exemple: En dehors des heures d'ouverture, les appels sont automatiquement redirigés vers une messagerie vocale informant les clients des horaires et leur permettant de laisser un message.</a:t>
            </a:r>
            <a:endParaRPr lang="en-US" sz="1750" b="1" dirty="0"/>
          </a:p>
        </p:txBody>
      </p:sp>
      <p:pic>
        <p:nvPicPr>
          <p:cNvPr id="14" name="Imag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5180" y="1207036"/>
            <a:ext cx="5916820" cy="4437615"/>
          </a:xfrm>
          <a:prstGeom prst="rect">
            <a:avLst/>
          </a:prstGeom>
        </p:spPr>
      </p:pic>
    </p:spTree>
    <p:extLst>
      <p:ext uri="{BB962C8B-B14F-4D97-AF65-F5344CB8AC3E}">
        <p14:creationId xmlns:p14="http://schemas.microsoft.com/office/powerpoint/2010/main" val="1907109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p:cNvSpPr/>
          <p:nvPr/>
        </p:nvSpPr>
        <p:spPr>
          <a:xfrm>
            <a:off x="599978" y="154479"/>
            <a:ext cx="11311774" cy="708779"/>
          </a:xfrm>
          <a:prstGeom prst="rect">
            <a:avLst/>
          </a:prstGeom>
          <a:noFill/>
          <a:ln/>
        </p:spPr>
        <p:txBody>
          <a:bodyPr wrap="none" lIns="0" tIns="0" rIns="0" bIns="0" rtlCol="0" anchor="t"/>
          <a:lstStyle/>
          <a:p>
            <a:pPr algn="l">
              <a:lnSpc>
                <a:spcPts val="5550"/>
              </a:lnSpc>
            </a:pPr>
            <a:r>
              <a:rPr lang="en-US" sz="4450" dirty="0">
                <a:solidFill>
                  <a:srgbClr val="152D47"/>
                </a:solidFill>
                <a:latin typeface="Crimson Pro Semi Bold" pitchFamily="34" charset="0"/>
                <a:ea typeface="Crimson Pro Semi Bold" pitchFamily="34" charset="-122"/>
                <a:cs typeface="Crimson Pro Semi Bold" pitchFamily="34" charset="-120"/>
              </a:rPr>
              <a:t>Configuration de la Gestion des Horaires </a:t>
            </a:r>
            <a:endParaRPr lang="en-US" sz="4450" dirty="0"/>
          </a:p>
        </p:txBody>
      </p:sp>
      <p:sp>
        <p:nvSpPr>
          <p:cNvPr id="8" name="ZoneTexte 7"/>
          <p:cNvSpPr txBox="1"/>
          <p:nvPr/>
        </p:nvSpPr>
        <p:spPr>
          <a:xfrm>
            <a:off x="504966" y="1501253"/>
            <a:ext cx="5281684" cy="523220"/>
          </a:xfrm>
          <a:prstGeom prst="rect">
            <a:avLst/>
          </a:prstGeom>
          <a:noFill/>
        </p:spPr>
        <p:txBody>
          <a:bodyPr wrap="square" rtlCol="0">
            <a:spAutoFit/>
          </a:bodyPr>
          <a:lstStyle/>
          <a:p>
            <a:pPr marL="457200" lvl="0" indent="-457200">
              <a:buFont typeface="Wingdings" panose="05000000000000000000" pitchFamily="2" charset="2"/>
              <a:buChar char="q"/>
            </a:pPr>
            <a:r>
              <a:rPr lang="fr-FR" sz="2800" dirty="0"/>
              <a:t>Paramétrage d’un </a:t>
            </a:r>
            <a:r>
              <a:rPr lang="fr-FR" sz="2800" b="1" dirty="0"/>
              <a:t>Time groups </a:t>
            </a:r>
            <a:r>
              <a:rPr lang="fr-FR" sz="2800" dirty="0"/>
              <a:t>:</a:t>
            </a:r>
            <a:endParaRPr lang="en-US" sz="2800" dirty="0"/>
          </a:p>
        </p:txBody>
      </p:sp>
      <p:sp>
        <p:nvSpPr>
          <p:cNvPr id="9" name="ZoneTexte 8"/>
          <p:cNvSpPr txBox="1"/>
          <p:nvPr/>
        </p:nvSpPr>
        <p:spPr>
          <a:xfrm>
            <a:off x="744914" y="2287311"/>
            <a:ext cx="5158853" cy="369332"/>
          </a:xfrm>
          <a:prstGeom prst="rect">
            <a:avLst/>
          </a:prstGeom>
          <a:noFill/>
        </p:spPr>
        <p:txBody>
          <a:bodyPr wrap="square" rtlCol="0">
            <a:spAutoFit/>
          </a:bodyPr>
          <a:lstStyle/>
          <a:p>
            <a:pPr marL="285750" lvl="0" indent="-285750">
              <a:buFont typeface="Wingdings" panose="05000000000000000000" pitchFamily="2" charset="2"/>
              <a:buChar char="Ø"/>
            </a:pPr>
            <a:r>
              <a:rPr lang="fr-FR" dirty="0"/>
              <a:t>Allez dans PBX &gt; PBX Configuration &gt; Time groups</a:t>
            </a:r>
            <a:r>
              <a:rPr lang="fr-FR" b="1" dirty="0"/>
              <a:t> </a:t>
            </a:r>
            <a:endParaRPr lang="en-US" dirty="0"/>
          </a:p>
        </p:txBody>
      </p:sp>
      <p:sp>
        <p:nvSpPr>
          <p:cNvPr id="10" name="ZoneTexte 9"/>
          <p:cNvSpPr txBox="1"/>
          <p:nvPr/>
        </p:nvSpPr>
        <p:spPr>
          <a:xfrm>
            <a:off x="641445" y="2919481"/>
            <a:ext cx="5677470" cy="1200329"/>
          </a:xfrm>
          <a:prstGeom prst="rect">
            <a:avLst/>
          </a:prstGeom>
          <a:noFill/>
        </p:spPr>
        <p:txBody>
          <a:bodyPr wrap="square" rtlCol="0">
            <a:spAutoFit/>
          </a:bodyPr>
          <a:lstStyle/>
          <a:p>
            <a:pPr marL="285750" indent="-285750">
              <a:buFont typeface="Wingdings" panose="05000000000000000000" pitchFamily="2" charset="2"/>
              <a:buChar char="Ø"/>
            </a:pPr>
            <a:r>
              <a:rPr lang="fr-FR" dirty="0"/>
              <a:t>Cliquez sur Add Time groups et renseignez une description (ex heures_Ouvres), les plages horaires d’ouvertures, les plages journalières et annuelles.</a:t>
            </a:r>
            <a:endParaRPr lang="en-US" dirty="0"/>
          </a:p>
          <a:p>
            <a:endParaRPr lang="en-US" dirty="0"/>
          </a:p>
        </p:txBody>
      </p:sp>
      <p:pic>
        <p:nvPicPr>
          <p:cNvPr id="11" name="Picture 35"/>
          <p:cNvPicPr/>
          <p:nvPr/>
        </p:nvPicPr>
        <p:blipFill>
          <a:blip r:embed="rId2">
            <a:extLst>
              <a:ext uri="{28A0092B-C50C-407E-A947-70E740481C1C}">
                <a14:useLocalDpi xmlns:a14="http://schemas.microsoft.com/office/drawing/2010/main" val="0"/>
              </a:ext>
            </a:extLst>
          </a:blip>
          <a:stretch>
            <a:fillRect/>
          </a:stretch>
        </p:blipFill>
        <p:spPr>
          <a:xfrm>
            <a:off x="6255865" y="1643491"/>
            <a:ext cx="2976383" cy="2543363"/>
          </a:xfrm>
          <a:prstGeom prst="rect">
            <a:avLst/>
          </a:prstGeom>
        </p:spPr>
      </p:pic>
      <p:sp>
        <p:nvSpPr>
          <p:cNvPr id="12" name="ZoneTexte 11"/>
          <p:cNvSpPr txBox="1"/>
          <p:nvPr/>
        </p:nvSpPr>
        <p:spPr>
          <a:xfrm>
            <a:off x="504966" y="4425076"/>
            <a:ext cx="5909054" cy="523220"/>
          </a:xfrm>
          <a:prstGeom prst="rect">
            <a:avLst/>
          </a:prstGeom>
          <a:noFill/>
        </p:spPr>
        <p:txBody>
          <a:bodyPr wrap="none" rtlCol="0">
            <a:spAutoFit/>
          </a:bodyPr>
          <a:lstStyle/>
          <a:p>
            <a:pPr marL="457200" indent="-457200">
              <a:buFont typeface="Wingdings" panose="05000000000000000000" pitchFamily="2" charset="2"/>
              <a:buChar char="q"/>
            </a:pPr>
            <a:r>
              <a:rPr lang="fr-FR" sz="2800" dirty="0"/>
              <a:t>Paramétrage d’un </a:t>
            </a:r>
            <a:r>
              <a:rPr lang="fr-FR" sz="2800" b="1" dirty="0"/>
              <a:t>Time Conditions </a:t>
            </a:r>
            <a:r>
              <a:rPr lang="fr-FR" sz="2800" dirty="0"/>
              <a:t>:</a:t>
            </a:r>
            <a:endParaRPr lang="en-US" sz="2800" dirty="0"/>
          </a:p>
        </p:txBody>
      </p:sp>
      <p:sp>
        <p:nvSpPr>
          <p:cNvPr id="13" name="ZoneTexte 12"/>
          <p:cNvSpPr txBox="1"/>
          <p:nvPr/>
        </p:nvSpPr>
        <p:spPr>
          <a:xfrm>
            <a:off x="818706" y="5068896"/>
            <a:ext cx="5595314" cy="369332"/>
          </a:xfrm>
          <a:prstGeom prst="rect">
            <a:avLst/>
          </a:prstGeom>
          <a:noFill/>
        </p:spPr>
        <p:txBody>
          <a:bodyPr wrap="none" rtlCol="0">
            <a:spAutoFit/>
          </a:bodyPr>
          <a:lstStyle/>
          <a:p>
            <a:pPr marL="285750" lvl="0" indent="-285750">
              <a:buFont typeface="Wingdings" panose="05000000000000000000" pitchFamily="2" charset="2"/>
              <a:buChar char="Ø"/>
            </a:pPr>
            <a:r>
              <a:rPr lang="fr-FR" dirty="0"/>
              <a:t>Allez dans PBX &gt; PBX Configuration &gt; Time Conditions ;</a:t>
            </a:r>
            <a:endParaRPr lang="en-US" dirty="0"/>
          </a:p>
        </p:txBody>
      </p:sp>
      <p:sp>
        <p:nvSpPr>
          <p:cNvPr id="14" name="ZoneTexte 13"/>
          <p:cNvSpPr txBox="1"/>
          <p:nvPr/>
        </p:nvSpPr>
        <p:spPr>
          <a:xfrm>
            <a:off x="693179" y="5580466"/>
            <a:ext cx="5574001" cy="923330"/>
          </a:xfrm>
          <a:prstGeom prst="rect">
            <a:avLst/>
          </a:prstGeom>
          <a:noFill/>
        </p:spPr>
        <p:txBody>
          <a:bodyPr wrap="square" rtlCol="0">
            <a:spAutoFit/>
          </a:bodyPr>
          <a:lstStyle/>
          <a:p>
            <a:pPr marL="285750" indent="-285750">
              <a:buFont typeface="Wingdings" panose="05000000000000000000" pitchFamily="2" charset="2"/>
              <a:buChar char="Ø"/>
            </a:pPr>
            <a:r>
              <a:rPr lang="fr-FR" dirty="0"/>
              <a:t>Créez un time condition en renseignant un nom et le time group crée précédemment ;</a:t>
            </a:r>
            <a:endParaRPr lang="en-US" dirty="0"/>
          </a:p>
          <a:p>
            <a:endParaRPr lang="en-US" dirty="0"/>
          </a:p>
        </p:txBody>
      </p:sp>
      <p:sp>
        <p:nvSpPr>
          <p:cNvPr id="15" name="ZoneTexte 14"/>
          <p:cNvSpPr txBox="1"/>
          <p:nvPr/>
        </p:nvSpPr>
        <p:spPr>
          <a:xfrm>
            <a:off x="641445" y="6212636"/>
            <a:ext cx="5772575" cy="923330"/>
          </a:xfrm>
          <a:prstGeom prst="rect">
            <a:avLst/>
          </a:prstGeom>
          <a:noFill/>
        </p:spPr>
        <p:txBody>
          <a:bodyPr wrap="square" rtlCol="0">
            <a:spAutoFit/>
          </a:bodyPr>
          <a:lstStyle/>
          <a:p>
            <a:pPr marL="285750" indent="-285750">
              <a:buFont typeface="Wingdings" panose="05000000000000000000" pitchFamily="2" charset="2"/>
              <a:buChar char="Ø"/>
            </a:pPr>
            <a:r>
              <a:rPr lang="fr-FR" dirty="0"/>
              <a:t>Configurez une destination si un utilisateur appelle dans les heures définies (par exemple sur IVR_standard) ;</a:t>
            </a:r>
            <a:endParaRPr lang="en-US" dirty="0"/>
          </a:p>
          <a:p>
            <a:endParaRPr lang="en-US" dirty="0"/>
          </a:p>
        </p:txBody>
      </p:sp>
      <p:sp>
        <p:nvSpPr>
          <p:cNvPr id="16" name="ZoneTexte 15"/>
          <p:cNvSpPr txBox="1"/>
          <p:nvPr/>
        </p:nvSpPr>
        <p:spPr>
          <a:xfrm>
            <a:off x="6414020" y="5086768"/>
            <a:ext cx="4435523" cy="1477328"/>
          </a:xfrm>
          <a:prstGeom prst="rect">
            <a:avLst/>
          </a:prstGeom>
          <a:noFill/>
        </p:spPr>
        <p:txBody>
          <a:bodyPr wrap="square" rtlCol="0">
            <a:spAutoFit/>
          </a:bodyPr>
          <a:lstStyle/>
          <a:p>
            <a:pPr marL="285750" indent="-285750">
              <a:buFont typeface="Wingdings" panose="05000000000000000000" pitchFamily="2" charset="2"/>
              <a:buChar char="Ø"/>
            </a:pPr>
            <a:r>
              <a:rPr lang="fr-FR" dirty="0"/>
              <a:t>Configurez une destination si un utilisateur appelle dans une heure non définie (par exemple sur un annoncement contenant un message qui indique que c’est fermé) ;</a:t>
            </a:r>
            <a:endParaRPr lang="en-US" dirty="0"/>
          </a:p>
        </p:txBody>
      </p:sp>
      <p:pic>
        <p:nvPicPr>
          <p:cNvPr id="17" name="Picture 38"/>
          <p:cNvPicPr/>
          <p:nvPr/>
        </p:nvPicPr>
        <p:blipFill>
          <a:blip r:embed="rId3">
            <a:extLst>
              <a:ext uri="{28A0092B-C50C-407E-A947-70E740481C1C}">
                <a14:useLocalDpi xmlns:a14="http://schemas.microsoft.com/office/drawing/2010/main" val="0"/>
              </a:ext>
            </a:extLst>
          </a:blip>
          <a:stretch>
            <a:fillRect/>
          </a:stretch>
        </p:blipFill>
        <p:spPr>
          <a:xfrm>
            <a:off x="9701463" y="1613310"/>
            <a:ext cx="2296160" cy="2729230"/>
          </a:xfrm>
          <a:prstGeom prst="rect">
            <a:avLst/>
          </a:prstGeom>
        </p:spPr>
      </p:pic>
    </p:spTree>
    <p:extLst>
      <p:ext uri="{BB962C8B-B14F-4D97-AF65-F5344CB8AC3E}">
        <p14:creationId xmlns:p14="http://schemas.microsoft.com/office/powerpoint/2010/main" val="3478106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0CA3FD-244A-4E5F-89B1-0610F6A2782F}"/>
              </a:ext>
            </a:extLst>
          </p:cNvPr>
          <p:cNvSpPr/>
          <p:nvPr/>
        </p:nvSpPr>
        <p:spPr>
          <a:xfrm>
            <a:off x="0" y="102246"/>
            <a:ext cx="11582400" cy="708779"/>
          </a:xfrm>
          <a:prstGeom prst="rect">
            <a:avLst/>
          </a:prstGeom>
          <a:noFill/>
          <a:ln/>
        </p:spPr>
        <p:txBody>
          <a:bodyPr wrap="none" lIns="0" tIns="0" rIns="0" bIns="0" rtlCol="0" anchor="t"/>
          <a:lstStyle/>
          <a:p>
            <a:pPr marL="400050" marR="0" lvl="0" indent="-400050" algn="ctr">
              <a:lnSpc>
                <a:spcPct val="107000"/>
              </a:lnSpc>
              <a:spcBef>
                <a:spcPts val="800"/>
              </a:spcBef>
              <a:spcAft>
                <a:spcPts val="600"/>
              </a:spcAft>
              <a:buFont typeface="+mj-lt"/>
              <a:buAutoNum type="romanUcPeriod" startAt="9"/>
            </a:pPr>
            <a:r>
              <a:rPr lang="fr-FR" sz="3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INTERCONNEXION VERS UN AUTRE RESEAU</a:t>
            </a:r>
          </a:p>
        </p:txBody>
      </p:sp>
      <p:sp>
        <p:nvSpPr>
          <p:cNvPr id="3" name="TextBox 2">
            <a:extLst>
              <a:ext uri="{FF2B5EF4-FFF2-40B4-BE49-F238E27FC236}">
                <a16:creationId xmlns:a16="http://schemas.microsoft.com/office/drawing/2014/main" id="{29B24D21-497E-4759-9AFD-730AD6434915}"/>
              </a:ext>
            </a:extLst>
          </p:cNvPr>
          <p:cNvSpPr txBox="1"/>
          <p:nvPr/>
        </p:nvSpPr>
        <p:spPr>
          <a:xfrm>
            <a:off x="212421" y="1111982"/>
            <a:ext cx="9143529" cy="738664"/>
          </a:xfrm>
          <a:prstGeom prst="rect">
            <a:avLst/>
          </a:prstGeom>
          <a:noFill/>
        </p:spPr>
        <p:txBody>
          <a:bodyPr wrap="none" rtlCol="0">
            <a:spAutoFit/>
          </a:bodyPr>
          <a:lstStyle/>
          <a:p>
            <a:pPr marL="342900" indent="-342900">
              <a:buFont typeface="Wingdings" panose="05000000000000000000" pitchFamily="2" charset="2"/>
              <a:buChar char="q"/>
            </a:pPr>
            <a:r>
              <a:rPr lang="fr-FR"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Configuration de la route sortante : Trunks et Out Bound Routes </a:t>
            </a:r>
            <a:endParaRPr lang="fr-FR" sz="2400"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FR" dirty="0"/>
          </a:p>
        </p:txBody>
      </p:sp>
      <p:sp>
        <p:nvSpPr>
          <p:cNvPr id="4" name="TextBox 3">
            <a:extLst>
              <a:ext uri="{FF2B5EF4-FFF2-40B4-BE49-F238E27FC236}">
                <a16:creationId xmlns:a16="http://schemas.microsoft.com/office/drawing/2014/main" id="{DC8D3542-59F4-4515-9679-B5F4B61138A5}"/>
              </a:ext>
            </a:extLst>
          </p:cNvPr>
          <p:cNvSpPr txBox="1"/>
          <p:nvPr/>
        </p:nvSpPr>
        <p:spPr>
          <a:xfrm>
            <a:off x="212421" y="1850646"/>
            <a:ext cx="11767158" cy="1200329"/>
          </a:xfrm>
          <a:prstGeom prst="rect">
            <a:avLst/>
          </a:prstGeom>
          <a:noFill/>
        </p:spPr>
        <p:txBody>
          <a:bodyPr wrap="square" rtlCol="0">
            <a:spAutoFit/>
          </a:bodyPr>
          <a:lstStyle/>
          <a:p>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L’interconnexion des réseaux est une fonctionnalité permettant aux utilisateurs d’un réseau A de communiquer avec ceux d’un réseau B externe. Cela n’est possible que via une jonction ou TRUNK pouvant se faire de manière analogique, numérique ou IP. Nous avons choisi le TRUNK IP. La configuration s’est faite comme suit :</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5" name="TextBox 4">
            <a:extLst>
              <a:ext uri="{FF2B5EF4-FFF2-40B4-BE49-F238E27FC236}">
                <a16:creationId xmlns:a16="http://schemas.microsoft.com/office/drawing/2014/main" id="{7B170479-614D-492F-AA3F-0127EC345B19}"/>
              </a:ext>
            </a:extLst>
          </p:cNvPr>
          <p:cNvSpPr txBox="1"/>
          <p:nvPr/>
        </p:nvSpPr>
        <p:spPr>
          <a:xfrm>
            <a:off x="212421" y="3090446"/>
            <a:ext cx="4213205" cy="677108"/>
          </a:xfrm>
          <a:prstGeom prst="rect">
            <a:avLst/>
          </a:prstGeom>
          <a:noFill/>
        </p:spPr>
        <p:txBody>
          <a:bodyPr wrap="none" rtlCol="0">
            <a:spAutoFit/>
          </a:bodyPr>
          <a:lstStyle/>
          <a:p>
            <a:pPr marL="342900" indent="-342900">
              <a:buFont typeface="+mj-lt"/>
              <a:buAutoNum type="arabicPeriod"/>
            </a:pP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Création d'une jonction (Trunk) :</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fr-FR" dirty="0"/>
          </a:p>
        </p:txBody>
      </p:sp>
      <p:pic>
        <p:nvPicPr>
          <p:cNvPr id="6" name="Picture 5">
            <a:extLst>
              <a:ext uri="{FF2B5EF4-FFF2-40B4-BE49-F238E27FC236}">
                <a16:creationId xmlns:a16="http://schemas.microsoft.com/office/drawing/2014/main" id="{64DE0782-97E4-4E86-9A5F-BD6A3EEBA018}"/>
              </a:ext>
            </a:extLst>
          </p:cNvPr>
          <p:cNvPicPr/>
          <p:nvPr/>
        </p:nvPicPr>
        <p:blipFill>
          <a:blip r:embed="rId2">
            <a:extLst>
              <a:ext uri="{28A0092B-C50C-407E-A947-70E740481C1C}">
                <a14:useLocalDpi xmlns:a14="http://schemas.microsoft.com/office/drawing/2010/main" val="0"/>
              </a:ext>
            </a:extLst>
          </a:blip>
          <a:stretch>
            <a:fillRect/>
          </a:stretch>
        </p:blipFill>
        <p:spPr>
          <a:xfrm>
            <a:off x="4649737" y="3181160"/>
            <a:ext cx="3380740" cy="2837815"/>
          </a:xfrm>
          <a:prstGeom prst="rect">
            <a:avLst/>
          </a:prstGeom>
        </p:spPr>
      </p:pic>
      <p:pic>
        <p:nvPicPr>
          <p:cNvPr id="7" name="Picture 6">
            <a:extLst>
              <a:ext uri="{FF2B5EF4-FFF2-40B4-BE49-F238E27FC236}">
                <a16:creationId xmlns:a16="http://schemas.microsoft.com/office/drawing/2014/main" id="{8E90DB84-459B-41B1-B3D9-0E0E492D2F41}"/>
              </a:ext>
            </a:extLst>
          </p:cNvPr>
          <p:cNvPicPr/>
          <p:nvPr/>
        </p:nvPicPr>
        <p:blipFill>
          <a:blip r:embed="rId3">
            <a:extLst>
              <a:ext uri="{28A0092B-C50C-407E-A947-70E740481C1C}">
                <a14:useLocalDpi xmlns:a14="http://schemas.microsoft.com/office/drawing/2010/main" val="0"/>
              </a:ext>
            </a:extLst>
          </a:blip>
          <a:stretch>
            <a:fillRect/>
          </a:stretch>
        </p:blipFill>
        <p:spPr>
          <a:xfrm>
            <a:off x="8254588" y="3096442"/>
            <a:ext cx="3666490" cy="3032125"/>
          </a:xfrm>
          <a:prstGeom prst="rect">
            <a:avLst/>
          </a:prstGeom>
        </p:spPr>
      </p:pic>
      <p:sp>
        <p:nvSpPr>
          <p:cNvPr id="8" name="TextBox 7">
            <a:extLst>
              <a:ext uri="{FF2B5EF4-FFF2-40B4-BE49-F238E27FC236}">
                <a16:creationId xmlns:a16="http://schemas.microsoft.com/office/drawing/2014/main" id="{D4E52F05-B60E-493B-BB16-6F592E71A1DE}"/>
              </a:ext>
            </a:extLst>
          </p:cNvPr>
          <p:cNvSpPr txBox="1"/>
          <p:nvPr/>
        </p:nvSpPr>
        <p:spPr>
          <a:xfrm>
            <a:off x="212421" y="3604725"/>
            <a:ext cx="3996722" cy="2540888"/>
          </a:xfrm>
          <a:prstGeom prst="rect">
            <a:avLst/>
          </a:prstGeom>
          <a:noFill/>
        </p:spPr>
        <p:txBody>
          <a:bodyPr wrap="square" rtlCol="0">
            <a:spAutoFit/>
          </a:bodyPr>
          <a:lstStyle/>
          <a:p>
            <a:pPr marL="285750" marR="0" lvl="0" indent="-285750" algn="just">
              <a:lnSpc>
                <a:spcPct val="150000"/>
              </a:lnSpc>
              <a:spcBef>
                <a:spcPts val="0"/>
              </a:spcBef>
              <a:spcAft>
                <a:spcPts val="0"/>
              </a:spcAft>
              <a:buFont typeface="Wingdings" panose="05000000000000000000" pitchFamily="2" charset="2"/>
              <a:buChar char="Ø"/>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Dans PBX &gt; PBX Configuration &gt; Trunks ;</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just">
              <a:lnSpc>
                <a:spcPct val="150000"/>
              </a:lnSpc>
              <a:spcBef>
                <a:spcPts val="0"/>
              </a:spcBef>
              <a:spcAft>
                <a:spcPts val="800"/>
              </a:spcAft>
              <a:buFont typeface="Wingdings" panose="05000000000000000000" pitchFamily="2" charset="2"/>
              <a:buChar char="Ø"/>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Cliquer sur Add SIP Trunk et renseigner le nom de TRUNK et les informations sur l'homologue (Peer) ;</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79691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4C7BC34-434C-4168-9506-ED9744D57FAE}"/>
              </a:ext>
            </a:extLst>
          </p:cNvPr>
          <p:cNvSpPr/>
          <p:nvPr/>
        </p:nvSpPr>
        <p:spPr>
          <a:xfrm>
            <a:off x="-159657" y="0"/>
            <a:ext cx="11582400" cy="708779"/>
          </a:xfrm>
          <a:prstGeom prst="rect">
            <a:avLst/>
          </a:prstGeom>
          <a:noFill/>
          <a:ln/>
        </p:spPr>
        <p:txBody>
          <a:bodyPr wrap="none" lIns="0" tIns="0" rIns="0" bIns="0" rtlCol="0" anchor="t"/>
          <a:lstStyle/>
          <a:p>
            <a:pPr marL="400050" marR="0" lvl="0" indent="-400050" algn="ctr">
              <a:lnSpc>
                <a:spcPct val="107000"/>
              </a:lnSpc>
              <a:spcBef>
                <a:spcPts val="800"/>
              </a:spcBef>
              <a:spcAft>
                <a:spcPts val="600"/>
              </a:spcAft>
              <a:buFont typeface="+mj-lt"/>
              <a:buAutoNum type="romanUcPeriod" startAt="9"/>
            </a:pPr>
            <a:r>
              <a:rPr lang="fr-FR" sz="3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INTERCONNEXION VERS UN AUTRE RESEAU</a:t>
            </a:r>
          </a:p>
        </p:txBody>
      </p:sp>
      <p:sp>
        <p:nvSpPr>
          <p:cNvPr id="4" name="TextBox 3">
            <a:extLst>
              <a:ext uri="{FF2B5EF4-FFF2-40B4-BE49-F238E27FC236}">
                <a16:creationId xmlns:a16="http://schemas.microsoft.com/office/drawing/2014/main" id="{6A66BD21-D407-490A-9AB4-9F3A59CDEAD6}"/>
              </a:ext>
            </a:extLst>
          </p:cNvPr>
          <p:cNvSpPr txBox="1"/>
          <p:nvPr/>
        </p:nvSpPr>
        <p:spPr>
          <a:xfrm>
            <a:off x="212421" y="1111982"/>
            <a:ext cx="9143529" cy="738664"/>
          </a:xfrm>
          <a:prstGeom prst="rect">
            <a:avLst/>
          </a:prstGeom>
          <a:noFill/>
        </p:spPr>
        <p:txBody>
          <a:bodyPr wrap="none" rtlCol="0">
            <a:spAutoFit/>
          </a:bodyPr>
          <a:lstStyle/>
          <a:p>
            <a:pPr marL="342900" indent="-342900">
              <a:buFont typeface="Wingdings" panose="05000000000000000000" pitchFamily="2" charset="2"/>
              <a:buChar char="q"/>
            </a:pPr>
            <a:r>
              <a:rPr lang="fr-FR"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Configuration de la route sortante : Trunks et Out Bound Routes </a:t>
            </a:r>
            <a:endParaRPr lang="fr-FR" sz="2400"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FR" dirty="0"/>
          </a:p>
        </p:txBody>
      </p:sp>
      <p:sp>
        <p:nvSpPr>
          <p:cNvPr id="11" name="TextBox 10">
            <a:extLst>
              <a:ext uri="{FF2B5EF4-FFF2-40B4-BE49-F238E27FC236}">
                <a16:creationId xmlns:a16="http://schemas.microsoft.com/office/drawing/2014/main" id="{CF7EDD0D-CA03-42AB-9580-9D30353D660E}"/>
              </a:ext>
            </a:extLst>
          </p:cNvPr>
          <p:cNvSpPr txBox="1"/>
          <p:nvPr/>
        </p:nvSpPr>
        <p:spPr>
          <a:xfrm>
            <a:off x="491036" y="1915295"/>
            <a:ext cx="6330579" cy="677108"/>
          </a:xfrm>
          <a:prstGeom prst="rect">
            <a:avLst/>
          </a:prstGeom>
          <a:noFill/>
        </p:spPr>
        <p:txBody>
          <a:bodyPr wrap="none" rtlCol="0">
            <a:spAutoFit/>
          </a:bodyPr>
          <a:lstStyle/>
          <a:p>
            <a:pPr marL="342900" indent="-342900">
              <a:buFont typeface="+mj-lt"/>
              <a:buAutoNum type="arabicParenR" startAt="2"/>
            </a:pPr>
            <a:r>
              <a:rPr lang="fr-FR" sz="1800" b="1" i="1"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000" b="1" i="1" dirty="0">
                <a:effectLst/>
                <a:latin typeface="Times New Roman" panose="02020603050405020304" pitchFamily="18" charset="0"/>
                <a:ea typeface="Calibri" panose="020F0502020204030204" pitchFamily="34" charset="0"/>
                <a:cs typeface="Times New Roman" panose="02020603050405020304" pitchFamily="18" charset="0"/>
              </a:rPr>
              <a:t>Configuration des routes sortantes (Outbound Routes)</a:t>
            </a:r>
            <a:endParaRPr lang="fr-FR" sz="20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12" name="TextBox 11">
            <a:extLst>
              <a:ext uri="{FF2B5EF4-FFF2-40B4-BE49-F238E27FC236}">
                <a16:creationId xmlns:a16="http://schemas.microsoft.com/office/drawing/2014/main" id="{6B152753-188D-49FA-89EE-3CDB22EFE91F}"/>
              </a:ext>
            </a:extLst>
          </p:cNvPr>
          <p:cNvSpPr txBox="1"/>
          <p:nvPr/>
        </p:nvSpPr>
        <p:spPr>
          <a:xfrm>
            <a:off x="911022" y="2657052"/>
            <a:ext cx="5490606" cy="646331"/>
          </a:xfrm>
          <a:prstGeom prst="rect">
            <a:avLst/>
          </a:prstGeom>
          <a:noFill/>
        </p:spPr>
        <p:txBody>
          <a:bodyPr wrap="none" rtlCol="0">
            <a:spAutoFit/>
          </a:bodyPr>
          <a:lstStyle/>
          <a:p>
            <a:pPr marL="285750" indent="-285750">
              <a:buFont typeface="Wingdings" panose="05000000000000000000" pitchFamily="2" charset="2"/>
              <a:buChar char="Ø"/>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Dans PBX &gt; PBX Configuration &gt; Outbound Routes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13" name="TextBox 12">
            <a:extLst>
              <a:ext uri="{FF2B5EF4-FFF2-40B4-BE49-F238E27FC236}">
                <a16:creationId xmlns:a16="http://schemas.microsoft.com/office/drawing/2014/main" id="{20D00C2B-E80C-4DD9-83C1-6DA98CE7FD65}"/>
              </a:ext>
            </a:extLst>
          </p:cNvPr>
          <p:cNvSpPr txBox="1"/>
          <p:nvPr/>
        </p:nvSpPr>
        <p:spPr>
          <a:xfrm>
            <a:off x="911022" y="3303383"/>
            <a:ext cx="5490606" cy="923330"/>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effectLst/>
                <a:latin typeface="Times New Roman" panose="02020603050405020304" pitchFamily="18" charset="0"/>
                <a:ea typeface="Calibri" panose="020F0502020204030204" pitchFamily="34" charset="0"/>
              </a:rPr>
              <a:t>Ajouter une Out Bound Route : nom, modèle de numérotation (dial pattern) et renseigner le Trunk précédemment crée </a:t>
            </a:r>
            <a:endParaRPr lang="fr-FR" dirty="0"/>
          </a:p>
        </p:txBody>
      </p:sp>
      <p:pic>
        <p:nvPicPr>
          <p:cNvPr id="14" name="Picture 13">
            <a:extLst>
              <a:ext uri="{FF2B5EF4-FFF2-40B4-BE49-F238E27FC236}">
                <a16:creationId xmlns:a16="http://schemas.microsoft.com/office/drawing/2014/main" id="{7D2068C7-44FC-484C-ADDA-A315CF5D05E4}"/>
              </a:ext>
            </a:extLst>
          </p:cNvPr>
          <p:cNvPicPr/>
          <p:nvPr/>
        </p:nvPicPr>
        <p:blipFill>
          <a:blip r:embed="rId2">
            <a:extLst>
              <a:ext uri="{28A0092B-C50C-407E-A947-70E740481C1C}">
                <a14:useLocalDpi xmlns:a14="http://schemas.microsoft.com/office/drawing/2010/main" val="0"/>
              </a:ext>
            </a:extLst>
          </a:blip>
          <a:stretch>
            <a:fillRect/>
          </a:stretch>
        </p:blipFill>
        <p:spPr>
          <a:xfrm>
            <a:off x="6466737" y="3229388"/>
            <a:ext cx="2736850" cy="2533400"/>
          </a:xfrm>
          <a:prstGeom prst="rect">
            <a:avLst/>
          </a:prstGeom>
        </p:spPr>
      </p:pic>
      <p:pic>
        <p:nvPicPr>
          <p:cNvPr id="15" name="Picture 14">
            <a:extLst>
              <a:ext uri="{FF2B5EF4-FFF2-40B4-BE49-F238E27FC236}">
                <a16:creationId xmlns:a16="http://schemas.microsoft.com/office/drawing/2014/main" id="{D61EF289-878D-4C78-8F96-A40D64CDE896}"/>
              </a:ext>
            </a:extLst>
          </p:cNvPr>
          <p:cNvPicPr/>
          <p:nvPr/>
        </p:nvPicPr>
        <p:blipFill>
          <a:blip r:embed="rId3">
            <a:extLst>
              <a:ext uri="{28A0092B-C50C-407E-A947-70E740481C1C}">
                <a14:useLocalDpi xmlns:a14="http://schemas.microsoft.com/office/drawing/2010/main" val="0"/>
              </a:ext>
            </a:extLst>
          </a:blip>
          <a:stretch>
            <a:fillRect/>
          </a:stretch>
        </p:blipFill>
        <p:spPr>
          <a:xfrm>
            <a:off x="9558465" y="3202149"/>
            <a:ext cx="2564765" cy="2533400"/>
          </a:xfrm>
          <a:prstGeom prst="rect">
            <a:avLst/>
          </a:prstGeom>
        </p:spPr>
      </p:pic>
    </p:spTree>
    <p:extLst>
      <p:ext uri="{BB962C8B-B14F-4D97-AF65-F5344CB8AC3E}">
        <p14:creationId xmlns:p14="http://schemas.microsoft.com/office/powerpoint/2010/main" val="2844008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4DD198E-CDD1-4916-B8A8-7A4827A2D075}"/>
              </a:ext>
            </a:extLst>
          </p:cNvPr>
          <p:cNvSpPr/>
          <p:nvPr/>
        </p:nvSpPr>
        <p:spPr>
          <a:xfrm>
            <a:off x="434340" y="0"/>
            <a:ext cx="11046460" cy="708779"/>
          </a:xfrm>
          <a:prstGeom prst="rect">
            <a:avLst/>
          </a:prstGeom>
          <a:noFill/>
          <a:ln/>
        </p:spPr>
        <p:txBody>
          <a:bodyPr wrap="none" lIns="0" tIns="0" rIns="0" bIns="0" rtlCol="0" anchor="t"/>
          <a:lstStyle/>
          <a:p>
            <a:pPr marL="400050" marR="0" lvl="0" indent="-400050" algn="ctr">
              <a:lnSpc>
                <a:spcPct val="107000"/>
              </a:lnSpc>
              <a:spcBef>
                <a:spcPts val="800"/>
              </a:spcBef>
              <a:spcAft>
                <a:spcPts val="600"/>
              </a:spcAft>
              <a:buFont typeface="+mj-lt"/>
              <a:buAutoNum type="romanUcPeriod" startAt="9"/>
            </a:pPr>
            <a:r>
              <a:rPr lang="fr-FR" sz="3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INTERCONNEXION VERS UN AUTRE RESEAU</a:t>
            </a:r>
          </a:p>
        </p:txBody>
      </p:sp>
      <p:sp>
        <p:nvSpPr>
          <p:cNvPr id="3" name="TextBox 2">
            <a:extLst>
              <a:ext uri="{FF2B5EF4-FFF2-40B4-BE49-F238E27FC236}">
                <a16:creationId xmlns:a16="http://schemas.microsoft.com/office/drawing/2014/main" id="{925AC320-D6EA-44ED-88E1-6B9B25DA15DC}"/>
              </a:ext>
            </a:extLst>
          </p:cNvPr>
          <p:cNvSpPr txBox="1"/>
          <p:nvPr/>
        </p:nvSpPr>
        <p:spPr>
          <a:xfrm>
            <a:off x="1156094" y="1010382"/>
            <a:ext cx="8709372" cy="954107"/>
          </a:xfrm>
          <a:prstGeom prst="rect">
            <a:avLst/>
          </a:prstGeom>
          <a:noFill/>
        </p:spPr>
        <p:txBody>
          <a:bodyPr wrap="none" rtlCol="0">
            <a:spAutoFit/>
          </a:bodyPr>
          <a:lstStyle/>
          <a:p>
            <a:pPr marL="342900" indent="-342900">
              <a:buFont typeface="Wingdings" panose="05000000000000000000" pitchFamily="2" charset="2"/>
              <a:buChar char="q"/>
            </a:pPr>
            <a:r>
              <a:rPr lang="fr-FR" sz="2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Configuration de la route entrante : In Bound Routes</a:t>
            </a:r>
            <a:endParaRPr lang="fr-FR" sz="2800"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FR" sz="2800" dirty="0"/>
          </a:p>
        </p:txBody>
      </p:sp>
      <p:sp>
        <p:nvSpPr>
          <p:cNvPr id="4" name="TextBox 3">
            <a:extLst>
              <a:ext uri="{FF2B5EF4-FFF2-40B4-BE49-F238E27FC236}">
                <a16:creationId xmlns:a16="http://schemas.microsoft.com/office/drawing/2014/main" id="{B1079C63-D08A-4905-8BE9-6D6889486AF2}"/>
              </a:ext>
            </a:extLst>
          </p:cNvPr>
          <p:cNvSpPr txBox="1"/>
          <p:nvPr/>
        </p:nvSpPr>
        <p:spPr>
          <a:xfrm>
            <a:off x="168759" y="1964489"/>
            <a:ext cx="12023241" cy="1477328"/>
          </a:xfrm>
          <a:prstGeom prst="rect">
            <a:avLst/>
          </a:prstGeom>
          <a:noFill/>
        </p:spPr>
        <p:txBody>
          <a:bodyPr wrap="square" rtlCol="0">
            <a:spAutoFit/>
          </a:bodyPr>
          <a:lstStyle/>
          <a:p>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Pour un appel en provenance de l’extérieur, il faut faire le lien entre numéro public (extérieur) et le numéro intérieur, on redirige tout appel entrant de l’extérieur vers un poste interne spécial ou un standard qui va ensuite aider à faire le lien vers le bon destinataire ; ceci est possible grâce aux INBOUND ROUTE qui permettent d’établir des règles de traitements d’appels arrivant depuis un TRUNK. La configuration se fait en suivant les étapes suivantes :</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5" name="ZoneTexte 4"/>
          <p:cNvSpPr txBox="1"/>
          <p:nvPr/>
        </p:nvSpPr>
        <p:spPr>
          <a:xfrm>
            <a:off x="948690" y="3441817"/>
            <a:ext cx="5191165" cy="369332"/>
          </a:xfrm>
          <a:prstGeom prst="rect">
            <a:avLst/>
          </a:prstGeom>
          <a:noFill/>
        </p:spPr>
        <p:txBody>
          <a:bodyPr wrap="none" rtlCol="0">
            <a:spAutoFit/>
          </a:bodyPr>
          <a:lstStyle/>
          <a:p>
            <a:pPr marL="285750" indent="-285750">
              <a:buFont typeface="Wingdings" panose="05000000000000000000" pitchFamily="2" charset="2"/>
              <a:buChar char="Ø"/>
            </a:pPr>
            <a:r>
              <a:rPr lang="en-US" dirty="0"/>
              <a:t>Dans PBX &gt; PBX Configuration &gt; In Bound Routes ; </a:t>
            </a:r>
          </a:p>
        </p:txBody>
      </p:sp>
      <p:sp>
        <p:nvSpPr>
          <p:cNvPr id="6" name="ZoneTexte 5"/>
          <p:cNvSpPr txBox="1"/>
          <p:nvPr/>
        </p:nvSpPr>
        <p:spPr>
          <a:xfrm>
            <a:off x="948690" y="3890956"/>
            <a:ext cx="5582490" cy="369332"/>
          </a:xfrm>
          <a:prstGeom prst="rect">
            <a:avLst/>
          </a:prstGeom>
          <a:noFill/>
        </p:spPr>
        <p:txBody>
          <a:bodyPr wrap="none" rtlCol="0">
            <a:spAutoFit/>
          </a:bodyPr>
          <a:lstStyle/>
          <a:p>
            <a:pPr marL="285750" indent="-285750">
              <a:buFont typeface="Wingdings" panose="05000000000000000000" pitchFamily="2" charset="2"/>
              <a:buChar char="Ø"/>
            </a:pPr>
            <a:r>
              <a:rPr lang="fr-FR" dirty="0"/>
              <a:t>Ajouter une In Bound Route, puis remplir les champs : </a:t>
            </a:r>
          </a:p>
        </p:txBody>
      </p:sp>
      <p:sp>
        <p:nvSpPr>
          <p:cNvPr id="7" name="ZoneTexte 6"/>
          <p:cNvSpPr txBox="1"/>
          <p:nvPr/>
        </p:nvSpPr>
        <p:spPr>
          <a:xfrm>
            <a:off x="1156094" y="3890956"/>
            <a:ext cx="6846570" cy="2585323"/>
          </a:xfrm>
          <a:prstGeom prst="rect">
            <a:avLst/>
          </a:prstGeom>
          <a:noFill/>
        </p:spPr>
        <p:txBody>
          <a:bodyPr wrap="square" rtlCol="0">
            <a:spAutoFit/>
          </a:bodyPr>
          <a:lstStyle/>
          <a:p>
            <a:endParaRPr lang="en-US" dirty="0"/>
          </a:p>
          <a:p>
            <a:r>
              <a:rPr lang="fr-FR" dirty="0"/>
              <a:t>✓ Description : nom de la route entrante ; </a:t>
            </a:r>
          </a:p>
          <a:p>
            <a:r>
              <a:rPr lang="fr-FR" dirty="0"/>
              <a:t>✓ DID number : numéro de la route ; c’est le numéro qui permet d’accueillir ceux qui sont hors de l’interne donc ce n’est pas une extension forcement (!!Se rassurer qu’il respecte le Dial pattern configuré dans le Out Bound Route. </a:t>
            </a:r>
          </a:p>
          <a:p>
            <a:r>
              <a:rPr lang="fr-FR" dirty="0"/>
              <a:t>✓ Set Destination : ici il faut choisir l’</a:t>
            </a:r>
            <a:r>
              <a:rPr lang="fr-FR" dirty="0" err="1"/>
              <a:t>ivr</a:t>
            </a:r>
            <a:r>
              <a:rPr lang="fr-FR" dirty="0"/>
              <a:t> standard qui va accueillir et orienter l’appelant vers la bonne destination qu’il voudra : Département de génie informatique par exemple </a:t>
            </a:r>
          </a:p>
        </p:txBody>
      </p:sp>
      <p:sp>
        <p:nvSpPr>
          <p:cNvPr id="8" name="ZoneTexte 7"/>
          <p:cNvSpPr txBox="1"/>
          <p:nvPr/>
        </p:nvSpPr>
        <p:spPr>
          <a:xfrm>
            <a:off x="948690" y="6476279"/>
            <a:ext cx="9982284" cy="369332"/>
          </a:xfrm>
          <a:prstGeom prst="rect">
            <a:avLst/>
          </a:prstGeom>
          <a:noFill/>
        </p:spPr>
        <p:txBody>
          <a:bodyPr wrap="none" rtlCol="0">
            <a:spAutoFit/>
          </a:bodyPr>
          <a:lstStyle/>
          <a:p>
            <a:pPr marL="285750" indent="-285750">
              <a:buFont typeface="Wingdings" panose="05000000000000000000" pitchFamily="2" charset="2"/>
              <a:buChar char="Ø"/>
            </a:pPr>
            <a:r>
              <a:rPr lang="fr-FR" dirty="0"/>
              <a:t>Soumettre et appliquer les modifications puis essayer de recevoir un appel venant d’un autre réseau. </a:t>
            </a:r>
          </a:p>
        </p:txBody>
      </p:sp>
    </p:spTree>
    <p:extLst>
      <p:ext uri="{BB962C8B-B14F-4D97-AF65-F5344CB8AC3E}">
        <p14:creationId xmlns:p14="http://schemas.microsoft.com/office/powerpoint/2010/main" val="2484842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4DD198E-CDD1-4916-B8A8-7A4827A2D075}"/>
              </a:ext>
            </a:extLst>
          </p:cNvPr>
          <p:cNvSpPr/>
          <p:nvPr/>
        </p:nvSpPr>
        <p:spPr>
          <a:xfrm>
            <a:off x="2720340" y="0"/>
            <a:ext cx="5560060" cy="708779"/>
          </a:xfrm>
          <a:prstGeom prst="rect">
            <a:avLst/>
          </a:prstGeom>
          <a:noFill/>
          <a:ln/>
        </p:spPr>
        <p:txBody>
          <a:bodyPr wrap="none" lIns="0" tIns="0" rIns="0" bIns="0" rtlCol="0" anchor="t"/>
          <a:lstStyle/>
          <a:p>
            <a:pPr marL="400050" marR="0" lvl="0" indent="-400050" algn="ctr">
              <a:lnSpc>
                <a:spcPct val="107000"/>
              </a:lnSpc>
              <a:spcBef>
                <a:spcPts val="800"/>
              </a:spcBef>
              <a:spcAft>
                <a:spcPts val="600"/>
              </a:spcAft>
              <a:buFont typeface="+mj-lt"/>
              <a:buAutoNum type="romanUcPeriod" startAt="10"/>
            </a:pPr>
            <a:r>
              <a:rPr lang="en-US" sz="4400" dirty="0"/>
              <a:t>DISCRIMINATION </a:t>
            </a:r>
            <a:endParaRPr lang="fr-FR"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B24FA8-89B6-4859-BA4F-2B36BC3DB966}"/>
              </a:ext>
            </a:extLst>
          </p:cNvPr>
          <p:cNvSpPr txBox="1"/>
          <p:nvPr/>
        </p:nvSpPr>
        <p:spPr>
          <a:xfrm>
            <a:off x="2518348" y="1017358"/>
            <a:ext cx="6925455" cy="646331"/>
          </a:xfrm>
          <a:prstGeom prst="rect">
            <a:avLst/>
          </a:prstGeom>
          <a:noFill/>
        </p:spPr>
        <p:txBody>
          <a:bodyPr wrap="square" rtlCol="0">
            <a:spAutoFit/>
          </a:bodyPr>
          <a:lstStyle/>
          <a:p>
            <a:pPr algn="ctr"/>
            <a:r>
              <a:rPr lang="fr-FR"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Création d’une Outbound Route Pour Notre Trunk Vide</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pic>
        <p:nvPicPr>
          <p:cNvPr id="7" name="Picture 6">
            <a:extLst>
              <a:ext uri="{FF2B5EF4-FFF2-40B4-BE49-F238E27FC236}">
                <a16:creationId xmlns:a16="http://schemas.microsoft.com/office/drawing/2014/main" id="{CCF71B54-67A5-43CE-BBB3-04DE48799DE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712" y="1528997"/>
            <a:ext cx="5050550" cy="5329003"/>
          </a:xfrm>
          <a:prstGeom prst="rect">
            <a:avLst/>
          </a:prstGeom>
        </p:spPr>
      </p:pic>
      <p:pic>
        <p:nvPicPr>
          <p:cNvPr id="8" name="Picture 7">
            <a:extLst>
              <a:ext uri="{FF2B5EF4-FFF2-40B4-BE49-F238E27FC236}">
                <a16:creationId xmlns:a16="http://schemas.microsoft.com/office/drawing/2014/main" id="{3E93C836-93DF-438D-BE80-0EE02097CF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02700" y="1813810"/>
            <a:ext cx="5467210" cy="5044189"/>
          </a:xfrm>
          <a:prstGeom prst="rect">
            <a:avLst/>
          </a:prstGeom>
        </p:spPr>
      </p:pic>
    </p:spTree>
    <p:extLst>
      <p:ext uri="{BB962C8B-B14F-4D97-AF65-F5344CB8AC3E}">
        <p14:creationId xmlns:p14="http://schemas.microsoft.com/office/powerpoint/2010/main" val="2604966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4DD198E-CDD1-4916-B8A8-7A4827A2D075}"/>
              </a:ext>
            </a:extLst>
          </p:cNvPr>
          <p:cNvSpPr/>
          <p:nvPr/>
        </p:nvSpPr>
        <p:spPr>
          <a:xfrm>
            <a:off x="2720340" y="0"/>
            <a:ext cx="5560060" cy="708779"/>
          </a:xfrm>
          <a:prstGeom prst="rect">
            <a:avLst/>
          </a:prstGeom>
          <a:noFill/>
          <a:ln/>
        </p:spPr>
        <p:txBody>
          <a:bodyPr wrap="none" lIns="0" tIns="0" rIns="0" bIns="0" rtlCol="0" anchor="t"/>
          <a:lstStyle/>
          <a:p>
            <a:pPr marL="400050" marR="0" lvl="0" indent="-400050" algn="ctr">
              <a:lnSpc>
                <a:spcPct val="107000"/>
              </a:lnSpc>
              <a:spcBef>
                <a:spcPts val="800"/>
              </a:spcBef>
              <a:spcAft>
                <a:spcPts val="600"/>
              </a:spcAft>
              <a:buFont typeface="+mj-lt"/>
              <a:buAutoNum type="romanUcPeriod" startAt="10"/>
            </a:pPr>
            <a:r>
              <a:rPr lang="en-US" sz="4400" dirty="0"/>
              <a:t>DISCRIMINATION </a:t>
            </a:r>
            <a:endParaRPr lang="fr-FR"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73AB66-441E-4AA6-92F0-3F8DB5808B54}"/>
              </a:ext>
            </a:extLst>
          </p:cNvPr>
          <p:cNvSpPr txBox="1"/>
          <p:nvPr/>
        </p:nvSpPr>
        <p:spPr>
          <a:xfrm>
            <a:off x="279251" y="945158"/>
            <a:ext cx="11113273" cy="923330"/>
          </a:xfrm>
          <a:prstGeom prst="rect">
            <a:avLst/>
          </a:prstGeom>
          <a:noFill/>
        </p:spPr>
        <p:txBody>
          <a:bodyPr wrap="square" rtlCol="0">
            <a:spAutoFit/>
          </a:bodyPr>
          <a:lstStyle/>
          <a:p>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Discrimination par interdiction a l’aide d’un Trunk factice (vide)</a:t>
            </a:r>
            <a:endParaRPr lang="fr-FR" sz="1800"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La configuration se fait en suivant les étapes suivantes :</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5" name="TextBox 4">
            <a:extLst>
              <a:ext uri="{FF2B5EF4-FFF2-40B4-BE49-F238E27FC236}">
                <a16:creationId xmlns:a16="http://schemas.microsoft.com/office/drawing/2014/main" id="{BDB24FA8-89B6-4859-BA4F-2B36BC3DB966}"/>
              </a:ext>
            </a:extLst>
          </p:cNvPr>
          <p:cNvSpPr txBox="1"/>
          <p:nvPr/>
        </p:nvSpPr>
        <p:spPr>
          <a:xfrm>
            <a:off x="4221664" y="1706905"/>
            <a:ext cx="2943633" cy="646331"/>
          </a:xfrm>
          <a:prstGeom prst="rect">
            <a:avLst/>
          </a:prstGeom>
          <a:noFill/>
        </p:spPr>
        <p:txBody>
          <a:bodyPr wrap="square" rtlCol="0">
            <a:spAutoFit/>
          </a:bodyPr>
          <a:lstStyle/>
          <a:p>
            <a:r>
              <a:rPr lang="fr-FR"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Création d’un Trunk Vide</a:t>
            </a:r>
            <a:endParaRPr lang="fr-FR"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pic>
        <p:nvPicPr>
          <p:cNvPr id="7" name="Picture 6">
            <a:extLst>
              <a:ext uri="{FF2B5EF4-FFF2-40B4-BE49-F238E27FC236}">
                <a16:creationId xmlns:a16="http://schemas.microsoft.com/office/drawing/2014/main" id="{CCF71B54-67A5-43CE-BBB3-04DE48799DE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8119" y="2275604"/>
            <a:ext cx="4419351" cy="4458322"/>
          </a:xfrm>
          <a:prstGeom prst="rect">
            <a:avLst/>
          </a:prstGeom>
        </p:spPr>
      </p:pic>
      <p:pic>
        <p:nvPicPr>
          <p:cNvPr id="8" name="Picture 7">
            <a:extLst>
              <a:ext uri="{FF2B5EF4-FFF2-40B4-BE49-F238E27FC236}">
                <a16:creationId xmlns:a16="http://schemas.microsoft.com/office/drawing/2014/main" id="{3E93C836-93DF-438D-BE80-0EE02097CF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27944" y="2399678"/>
            <a:ext cx="3664579" cy="4458322"/>
          </a:xfrm>
          <a:prstGeom prst="rect">
            <a:avLst/>
          </a:prstGeom>
        </p:spPr>
      </p:pic>
    </p:spTree>
    <p:extLst>
      <p:ext uri="{BB962C8B-B14F-4D97-AF65-F5344CB8AC3E}">
        <p14:creationId xmlns:p14="http://schemas.microsoft.com/office/powerpoint/2010/main" val="1731517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4DD198E-CDD1-4916-B8A8-7A4827A2D075}"/>
              </a:ext>
            </a:extLst>
          </p:cNvPr>
          <p:cNvSpPr/>
          <p:nvPr/>
        </p:nvSpPr>
        <p:spPr>
          <a:xfrm>
            <a:off x="2720340" y="0"/>
            <a:ext cx="5560060" cy="708779"/>
          </a:xfrm>
          <a:prstGeom prst="rect">
            <a:avLst/>
          </a:prstGeom>
          <a:noFill/>
          <a:ln/>
        </p:spPr>
        <p:txBody>
          <a:bodyPr wrap="none" lIns="0" tIns="0" rIns="0" bIns="0" rtlCol="0" anchor="t"/>
          <a:lstStyle/>
          <a:p>
            <a:pPr marL="857250" marR="0" lvl="0" indent="-857250" algn="ctr">
              <a:lnSpc>
                <a:spcPct val="107000"/>
              </a:lnSpc>
              <a:spcBef>
                <a:spcPts val="800"/>
              </a:spcBef>
              <a:spcAft>
                <a:spcPts val="600"/>
              </a:spcAft>
              <a:buFont typeface="+mj-lt"/>
              <a:buAutoNum type="romanUcPeriod" startAt="11"/>
            </a:pPr>
            <a:r>
              <a:rPr lang="en-US" sz="4400" b="1" dirty="0"/>
              <a:t>GESTION DE L’IPBX  </a:t>
            </a:r>
            <a:endParaRPr lang="fr-FR"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ZoneTexte 2"/>
          <p:cNvSpPr txBox="1"/>
          <p:nvPr/>
        </p:nvSpPr>
        <p:spPr>
          <a:xfrm>
            <a:off x="560070" y="708779"/>
            <a:ext cx="11452860" cy="1477328"/>
          </a:xfrm>
          <a:prstGeom prst="rect">
            <a:avLst/>
          </a:prstGeom>
          <a:noFill/>
        </p:spPr>
        <p:txBody>
          <a:bodyPr wrap="square" rtlCol="0">
            <a:spAutoFit/>
          </a:bodyPr>
          <a:lstStyle/>
          <a:p>
            <a:r>
              <a:rPr lang="fr-FR" dirty="0"/>
              <a:t>Dans ce point il était question pour nous de gérer l’aspect sécuritaire lié à l’accès et aux configurations dans notre serveur. Pour cela nous avons créé d’autres comptes utilisateurs avec des droits d’accès restreint notamment en création des comptes utilisateur et de création / modification d’extension (pour le nouveau compte </a:t>
            </a:r>
            <a:r>
              <a:rPr lang="fr-FR" b="1" dirty="0"/>
              <a:t>votre_nom_admin) ; </a:t>
            </a:r>
            <a:r>
              <a:rPr lang="fr-FR" dirty="0"/>
              <a:t>et juste des droits de consultation, avec aucun droit de modification sur l’IPBX (pour le nouveau compte </a:t>
            </a:r>
            <a:r>
              <a:rPr lang="fr-FR" b="1" dirty="0"/>
              <a:t>votre_nom_consul). </a:t>
            </a:r>
            <a:r>
              <a:rPr lang="fr-FR" dirty="0"/>
              <a:t>La création du compte </a:t>
            </a:r>
            <a:r>
              <a:rPr lang="fr-FR" b="1" dirty="0"/>
              <a:t>votre_nom_admin. </a:t>
            </a:r>
            <a:endParaRPr lang="en-US" dirty="0"/>
          </a:p>
        </p:txBody>
      </p:sp>
      <p:pic>
        <p:nvPicPr>
          <p:cNvPr id="4" name="Image 3"/>
          <p:cNvPicPr>
            <a:picLocks noChangeAspect="1"/>
          </p:cNvPicPr>
          <p:nvPr/>
        </p:nvPicPr>
        <p:blipFill>
          <a:blip r:embed="rId2"/>
          <a:stretch>
            <a:fillRect/>
          </a:stretch>
        </p:blipFill>
        <p:spPr>
          <a:xfrm>
            <a:off x="5500370" y="1901666"/>
            <a:ext cx="5767711" cy="2180272"/>
          </a:xfrm>
          <a:prstGeom prst="rect">
            <a:avLst/>
          </a:prstGeom>
        </p:spPr>
      </p:pic>
      <p:pic>
        <p:nvPicPr>
          <p:cNvPr id="5" name="Image 4"/>
          <p:cNvPicPr>
            <a:picLocks noChangeAspect="1"/>
          </p:cNvPicPr>
          <p:nvPr/>
        </p:nvPicPr>
        <p:blipFill>
          <a:blip r:embed="rId3"/>
          <a:stretch>
            <a:fillRect/>
          </a:stretch>
        </p:blipFill>
        <p:spPr>
          <a:xfrm>
            <a:off x="309618" y="2180774"/>
            <a:ext cx="4306831" cy="2107000"/>
          </a:xfrm>
          <a:prstGeom prst="rect">
            <a:avLst/>
          </a:prstGeom>
        </p:spPr>
      </p:pic>
      <p:pic>
        <p:nvPicPr>
          <p:cNvPr id="6" name="Image 5"/>
          <p:cNvPicPr>
            <a:picLocks noChangeAspect="1"/>
          </p:cNvPicPr>
          <p:nvPr/>
        </p:nvPicPr>
        <p:blipFill>
          <a:blip r:embed="rId4"/>
          <a:stretch>
            <a:fillRect/>
          </a:stretch>
        </p:blipFill>
        <p:spPr>
          <a:xfrm>
            <a:off x="5393995" y="4213404"/>
            <a:ext cx="5772809" cy="2623260"/>
          </a:xfrm>
          <a:prstGeom prst="rect">
            <a:avLst/>
          </a:prstGeom>
        </p:spPr>
      </p:pic>
    </p:spTree>
    <p:extLst>
      <p:ext uri="{BB962C8B-B14F-4D97-AF65-F5344CB8AC3E}">
        <p14:creationId xmlns:p14="http://schemas.microsoft.com/office/powerpoint/2010/main" val="37775328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4DD198E-CDD1-4916-B8A8-7A4827A2D075}"/>
              </a:ext>
            </a:extLst>
          </p:cNvPr>
          <p:cNvSpPr/>
          <p:nvPr/>
        </p:nvSpPr>
        <p:spPr>
          <a:xfrm>
            <a:off x="914400" y="2537460"/>
            <a:ext cx="9201150" cy="1588770"/>
          </a:xfrm>
          <a:prstGeom prst="rect">
            <a:avLst/>
          </a:prstGeom>
          <a:noFill/>
          <a:ln/>
        </p:spPr>
        <p:txBody>
          <a:bodyPr wrap="none" lIns="0" tIns="0" rIns="0" bIns="0" rtlCol="0" anchor="t"/>
          <a:lstStyle/>
          <a:p>
            <a:pPr marR="0" lvl="0" algn="ctr">
              <a:lnSpc>
                <a:spcPct val="107000"/>
              </a:lnSpc>
              <a:spcBef>
                <a:spcPts val="800"/>
              </a:spcBef>
              <a:spcAft>
                <a:spcPts val="600"/>
              </a:spcAft>
            </a:pPr>
            <a:r>
              <a:rPr lang="en-US" sz="9600" b="1" dirty="0"/>
              <a:t>CONCLUSION</a:t>
            </a:r>
            <a:r>
              <a:rPr lang="en-US" sz="4400" b="1" dirty="0"/>
              <a:t> </a:t>
            </a:r>
            <a:endParaRPr lang="fr-FR"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3688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599</TotalTime>
  <Words>2174</Words>
  <Application>Microsoft Office PowerPoint</Application>
  <PresentationFormat>Widescreen</PresentationFormat>
  <Paragraphs>190</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Crimson Pro Semi Bold</vt:lpstr>
      <vt:lpstr>Heebo</vt:lpstr>
      <vt:lpstr>Times New Roman</vt:lpstr>
      <vt:lpstr>Wingdings</vt:lpstr>
      <vt:lpstr>Thème Office</vt:lpstr>
      <vt:lpstr>PowerPoint Presentation</vt:lpstr>
      <vt:lpstr>Plant du travail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Configuration du parcage d'Appel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REPUBLIQUE DU CAMEROUN   REPUBLIC OF CAMEROON   Peace-work-Fatherland   UNIIVERSITE DE SCHANG   UNIVERSITY OF DSCHANG   BP96, Dschang (Cameroun)   Tel/Fax (237)233451381   Website: http://www.univ.dscang.org   E-mail : udsrectorat@univ-dschang.org</dc:title>
  <dc:creator>horlan sid vianije</dc:creator>
  <cp:lastModifiedBy>nanchiivan65@gmail.com</cp:lastModifiedBy>
  <cp:revision>58</cp:revision>
  <dcterms:created xsi:type="dcterms:W3CDTF">2025-03-28T03:32:24Z</dcterms:created>
  <dcterms:modified xsi:type="dcterms:W3CDTF">2025-04-29T12:30:30Z</dcterms:modified>
</cp:coreProperties>
</file>